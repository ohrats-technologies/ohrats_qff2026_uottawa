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4.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6712e82fc5241f9" /><Relationship Type="http://schemas.openxmlformats.org/officeDocument/2006/relationships/extended-properties" Target="/docProps/app.xml" Id="Rdc33a29e5d324e15" /><Relationship Type="http://schemas.openxmlformats.org/officeDocument/2006/relationships/officeDocument" Target="/ppt/presentation.xml" Id="R87b00049e0fb4f24" /></Relationships>
</file>

<file path=ppt/presentation.xml><?xml version="1.0" encoding="utf-8"?>
<p:presentation xmlns:p="http://schemas.openxmlformats.org/presentationml/2006/main">
  <p:sldMasterIdLst>
    <p:sldMasterId xmlns:r="http://schemas.openxmlformats.org/officeDocument/2006/relationships" id="2147483648" r:id="R6faad929b8934091"/>
  </p:sldMasterIdLst>
  <p:notesMasterIdLst>
    <p:notesMasterId xmlns:r="http://schemas.openxmlformats.org/officeDocument/2006/relationships" r:id="Rf79e1e24db534316"/>
  </p:notesMasterIdLst>
  <p:sldIdLst>
    <p:sldId xmlns:r="http://schemas.openxmlformats.org/officeDocument/2006/relationships" id="256" r:id="R7e3d191b73914577"/>
    <p:sldId xmlns:r="http://schemas.openxmlformats.org/officeDocument/2006/relationships" id="257" r:id="Reafcfd6c99794297"/>
    <p:sldId xmlns:r="http://schemas.openxmlformats.org/officeDocument/2006/relationships" id="258" r:id="R2abf5c2529d642af"/>
    <p:sldId xmlns:r="http://schemas.openxmlformats.org/officeDocument/2006/relationships" id="259" r:id="Rca41bca734f04953"/>
    <p:sldId xmlns:r="http://schemas.openxmlformats.org/officeDocument/2006/relationships" id="260" r:id="R3e62caa3f8644297"/>
    <p:sldId xmlns:r="http://schemas.openxmlformats.org/officeDocument/2006/relationships" id="261" r:id="R2868d52d2f554459"/>
    <p:sldId xmlns:r="http://schemas.openxmlformats.org/officeDocument/2006/relationships" id="262" r:id="R7d99501070b04aed"/>
    <p:sldId xmlns:r="http://schemas.openxmlformats.org/officeDocument/2006/relationships" id="263" r:id="R714b599e586040f3"/>
    <p:sldId xmlns:r="http://schemas.openxmlformats.org/officeDocument/2006/relationships" id="264" r:id="R02e157826a94450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8505f428d14cf8" /><Relationship Type="http://schemas.openxmlformats.org/officeDocument/2006/relationships/slideMaster" Target="/ppt/slideMasters/slideMaster1.xml" Id="R6faad929b8934091" /><Relationship Type="http://schemas.openxmlformats.org/officeDocument/2006/relationships/notesMaster" Target="/ppt/notesMasters/notesMaster1.xml" Id="Rf79e1e24db534316" /><Relationship Type="http://schemas.openxmlformats.org/officeDocument/2006/relationships/presProps" Target="/ppt/presProps.xml" Id="R8f3c7d60a80d4a66" /><Relationship Type="http://schemas.openxmlformats.org/officeDocument/2006/relationships/tableStyles" Target="/ppt/tableStyles.xml" Id="Ra2e935ebec3d47b1" /><Relationship Type="http://schemas.openxmlformats.org/officeDocument/2006/relationships/slide" Target="/ppt/slides/slide1.xml" Id="R7e3d191b73914577" /><Relationship Type="http://schemas.openxmlformats.org/officeDocument/2006/relationships/slide" Target="/ppt/slides/slide2.xml" Id="Reafcfd6c99794297" /><Relationship Type="http://schemas.openxmlformats.org/officeDocument/2006/relationships/slide" Target="/ppt/slides/slide3.xml" Id="R2abf5c2529d642af" /><Relationship Type="http://schemas.openxmlformats.org/officeDocument/2006/relationships/slide" Target="/ppt/slides/slide4.xml" Id="Rca41bca734f04953" /><Relationship Type="http://schemas.openxmlformats.org/officeDocument/2006/relationships/slide" Target="/ppt/slides/slide5.xml" Id="R3e62caa3f8644297" /><Relationship Type="http://schemas.openxmlformats.org/officeDocument/2006/relationships/slide" Target="/ppt/slides/slide6.xml" Id="R2868d52d2f554459" /><Relationship Type="http://schemas.openxmlformats.org/officeDocument/2006/relationships/slide" Target="/ppt/slides/slide7.xml" Id="R7d99501070b04aed" /><Relationship Type="http://schemas.openxmlformats.org/officeDocument/2006/relationships/slide" Target="/ppt/slides/slide8.xml" Id="R714b599e586040f3" /><Relationship Type="http://schemas.openxmlformats.org/officeDocument/2006/relationships/slide" Target="/ppt/slides/slide9.xml" Id="R02e157826a9445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d8490e333a640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c4bca2c13ca4933" /><Relationship Type="http://schemas.openxmlformats.org/officeDocument/2006/relationships/notesMaster" Target="/ppt/notesMasters/notesMaster1.xml" Id="Rd6df1c4f57ac452f" /></Relationships>
</file>

<file path=ppt/notesSlides/_rels/notesSlide2.xml.rels>&#65279;<?xml version="1.0" encoding="utf-8"?><Relationships xmlns="http://schemas.openxmlformats.org/package/2006/relationships"><Relationship Type="http://schemas.openxmlformats.org/officeDocument/2006/relationships/slide" Target="/ppt/slides/slide2.xml" Id="Rdaef1beb36ae4e88" /><Relationship Type="http://schemas.openxmlformats.org/officeDocument/2006/relationships/notesMaster" Target="/ppt/notesMasters/notesMaster1.xml" Id="R9f4e2dfd5f2a4404" /></Relationships>
</file>

<file path=ppt/notesSlides/_rels/notesSlide3.xml.rels>&#65279;<?xml version="1.0" encoding="utf-8"?><Relationships xmlns="http://schemas.openxmlformats.org/package/2006/relationships"><Relationship Type="http://schemas.openxmlformats.org/officeDocument/2006/relationships/slide" Target="/ppt/slides/slide3.xml" Id="Rf7e43ba6178c434d" /><Relationship Type="http://schemas.openxmlformats.org/officeDocument/2006/relationships/notesMaster" Target="/ppt/notesMasters/notesMaster1.xml" Id="R8ef7b4eed891469f" /></Relationships>
</file>

<file path=ppt/notesSlides/_rels/notesSlide4.xml.rels>&#65279;<?xml version="1.0" encoding="utf-8"?><Relationships xmlns="http://schemas.openxmlformats.org/package/2006/relationships"><Relationship Type="http://schemas.openxmlformats.org/officeDocument/2006/relationships/slide" Target="/ppt/slides/slide4.xml" Id="R87322658a6d544a3" /><Relationship Type="http://schemas.openxmlformats.org/officeDocument/2006/relationships/notesMaster" Target="/ppt/notesMasters/notesMaster1.xml" Id="Re464215058a344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7fb61e0db84f59" /><Relationship Type="http://schemas.openxmlformats.org/officeDocument/2006/relationships/notesMaster" Target="/ppt/notesMasters/notesMaster1.xml" Id="R045188dd324348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0b687246bc4de4" /><Relationship Type="http://schemas.openxmlformats.org/officeDocument/2006/relationships/notesMaster" Target="/ppt/notesMasters/notesMaster1.xml" Id="Rcb90cb1bc8b242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fa2fc32c3f5b4b13" /><Relationship Type="http://schemas.openxmlformats.org/officeDocument/2006/relationships/notesMaster" Target="/ppt/notesMasters/notesMaster1.xml" Id="Rc22cf53154b6432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6b297c62e2b408d" /><Relationship Type="http://schemas.openxmlformats.org/officeDocument/2006/relationships/notesMaster" Target="/ppt/notesMasters/notesMaster1.xml" Id="Rd04071565f734d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a2c5edcf6cd476f" /><Relationship Type="http://schemas.openxmlformats.org/officeDocument/2006/relationships/notesMaster" Target="/ppt/notesMasters/notesMaster1.xml" Id="R6f578e1856b543b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 display: the complete official Ontario boundary remains visible; grey denotes unmapped woodland classes (0/255), not absence of vegetation. Toronto/GTA, Ottawa and Windsor are WGS84 control points transformed to EPSG:3978. Our question is annual mean reported size in Ontario, not individual-fire occurrence or advance forecasting. We used actual Qiskit kernels and strong classical comparisons. The outcome is a reproducible negative comparison with a useful encoding diagnosis. The opening map shows source land-cover pixels and raw recorded 2021 coordinates, not predicted hotspots or simulated spread. Source evidence</a:t>
            </a:r>
          </a:p>
          <a:p xmlns:a="http://schemas.openxmlformats.org/drawingml/2006/main">
            <a:r>
              <a:t/>
            </a:r>
          </a:p>
          <a:p xmlns:a="http://schemas.openxmlformats.org/drawingml/2006/main">
            <a:r>
              <a:t>Sources:</a:t>
            </a:r>
          </a:p>
          <a:p xmlns:a="http://schemas.openxmlformats.org/drawingml/2006/main">
            <a:r>
              <a:t>https://github.com/OhRats-Technologies/OhRats_QFF2026_uottawa/blob/main/docs/REPORT.md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historical fire source is NRCan NFDB point records, not daily operational updates. We select Ontario agency records, quarantine ambiguous identities and exclude prescribed codes, then sum observed sizes and divide by their count. No coordinates, valid daily date or nearest-weather filter removes fires from the annual target. ECCC monthly measurements become station-year summaries; only stations meeting each feature's coverage threshold contribute, with equal station weights. Join aggregates by year to obtain ten climate features and one mean-size label per year. 39,616 training fires aggregate into only 31 annual rows. Years can be temporally dependent. The raw audit confirms 2021's 784,447/1,194 ratio; median fire was 0.3 ha, so large fires dominate the mean. Six later years were previously inspected in incident work. Woodland classes were screened separately and are not final predictors. The interactive map uses raw recorded 2021 locations for context, including identity-quarantined rows, distinct from the 1,194 accepted annual label records. Pixels are nearest-neighbour downsampled; location sizes are display glyphs, not fire perimeters. Schema · Independent raw-source audit · Source acquisition</a:t>
            </a:r>
          </a:p>
          <a:p xmlns:a="http://schemas.openxmlformats.org/drawingml/2006/main">
            <a:r>
              <a:t/>
            </a:r>
          </a:p>
          <a:p xmlns:a="http://schemas.openxmlformats.org/drawingml/2006/main">
            <a:r>
              <a:t>Sources:</a:t>
            </a:r>
          </a:p>
          <a:p xmlns:a="http://schemas.openxmlformats.org/drawingml/2006/main">
            <a:r>
              <a:t>https://github.com/OhRats-Technologies/OhRats_QFF2026_uottawa/blob/main/docs/DATA_SCHEMA.md</a:t>
            </a:r>
          </a:p>
          <a:p xmlns:a="http://schemas.openxmlformats.org/drawingml/2006/main">
            <a:r>
              <a:t>https://github.com/OhRats-Technologies/OhRats_QFF2026_uottawa/blob/main/docs/DATA_REVIEW.md</a:t>
            </a:r>
          </a:p>
          <a:p xmlns:a="http://schemas.openxmlformats.org/drawingml/2006/main">
            <a:r>
              <a:t>https://github.com/OhRats-Technologies/OhRats_QFF2026_uottawa/blob/main/docs/DATA_DOWNLOADS.md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test feature selection separately from prediction. Eight selectors see only training years: predefined physical inputs, all ten, Lasso ranking, mutual information, exact QUBO, QAOA sampling, uniformly sampled bitstrings and random four. Ranking/objective favors training-target relevance and penalizes redundant features. Exact and sampled methods use the same objective; Lasso and mutual information are additional controls. QAOA samples subsets, then actual qiskit-addon-sqd projects the diagonal Hamiltonian into sampled bitstrings and recovers its minimum energy. With only 210 feasible four-of-ten subsets, SQD adds no improvement beyond choosing the best sampled candidate. Three sensitivity seeds and fixed ridge give 79.58 exact, 80.31 uniform and 81.66 QAOA ha/fire. These are distinct from tuned SVR scores; the main kernel comparison uses the same predeclared four inputs, not SQD-selected inputs. This is a verified application and limitation, not a speedup. Selector results · SQD implementation · Selector plan</a:t>
            </a:r>
          </a:p>
          <a:p xmlns:a="http://schemas.openxmlformats.org/drawingml/2006/main">
            <a:r>
              <a:t/>
            </a:r>
          </a:p>
          <a:p xmlns:a="http://schemas.openxmlformats.org/drawingml/2006/main">
            <a:r>
              <a:t>Sources:</a:t>
            </a:r>
          </a:p>
          <a:p xmlns:a="http://schemas.openxmlformats.org/drawingml/2006/main">
            <a:r>
              <a:t>https://github.com/OhRats-Technologies/OhRats_QFF2026_uottawa/blob/main/docs/results/annual-selectors.json</a:t>
            </a:r>
          </a:p>
          <a:p xmlns:a="http://schemas.openxmlformats.org/drawingml/2006/main">
            <a:r>
              <a:t>https://github.com/OhRats-Technologies/OhRats_QFF2026_uottawa/blob/main/wildfire_lab/sqd_selection.py</a:t>
            </a:r>
          </a:p>
          <a:p xmlns:a="http://schemas.openxmlformats.org/drawingml/2006/main">
            <a:r>
              <a:t>https://github.com/OhRats-Technologies/OhRats_QFF2026_uottawa/blob/main/experiments/annual_selectors.json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the prediction comparison, both methods receive the same predeclared four climate inputs: annual/summer temperature and annual/summer precipitation. Classical RBF compares distances; Qiskit encodes bounded angles in shallow ZZ circuits and computes squared state overlap using FidelityQuantumKernel. Both feed similarities to a classical SVR optimizer; the feature map has no learned variational circuit parameters. Each family receives 36 configurations per width/fold. RBF is better in development: 77.02 versus 86.64 hectares per fire. QSVR wins one outer block and loses two. Outer blocks are 2007–2010, 2011–2014 and 2015–2018, with three inner splits for settings. The selector experiment is separate and uses fixed ridge, not these tuned kernel results. Matched results · Classical controls</a:t>
            </a:r>
          </a:p>
          <a:p xmlns:a="http://schemas.openxmlformats.org/drawingml/2006/main">
            <a:r>
              <a:t/>
            </a:r>
          </a:p>
          <a:p xmlns:a="http://schemas.openxmlformats.org/drawingml/2006/main">
            <a:r>
              <a:t>Sources:</a:t>
            </a:r>
          </a:p>
          <a:p xmlns:a="http://schemas.openxmlformats.org/drawingml/2006/main">
            <a:r>
              <a:t>https://github.com/OhRats-Technologies/OhRats_QFF2026_uottawa/blob/main/docs/results/annual-matched.json</a:t>
            </a:r>
          </a:p>
          <a:p xmlns:a="http://schemas.openxmlformats.org/drawingml/2006/main">
            <a:r>
              <a:t>https://github.com/OhRats-Technologies/OhRats_QFF2026_uottawa/blob/main/docs/results/annual-classical.json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group is one Ontario year. Orange is the total recorded hectares divided by the number of size-observed fires that year: for example, 2021 averages 656.99 hectares per fire. It is neither the total area burned, an individual fire's size nor a monthly trajectory. The grey bar repeats the training-year mean of 124.63; teal and green show the four-input QSVR and RBF estimates. High-year recorded averages dwarf those estimates. None of eleven main models beats the training mean across these six years. QSVR beats matched RBF here, but both lose to the constant, so that pairwise gain is not useful skill or quantum advantage. Model parameters and recipes froze before annual evaluation; earlier incident exposure limits independence. Same-year climate remains retrospective. All final errors · Freeze and limitations</a:t>
            </a:r>
          </a:p>
          <a:p xmlns:a="http://schemas.openxmlformats.org/drawingml/2006/main">
            <a:r>
              <a:t/>
            </a:r>
          </a:p>
          <a:p xmlns:a="http://schemas.openxmlformats.org/drawingml/2006/main">
            <a:r>
              <a:t>Sources:</a:t>
            </a:r>
          </a:p>
          <a:p xmlns:a="http://schemas.openxmlformats.org/drawingml/2006/main">
            <a:r>
              <a:t>https://github.com/OhRats-Technologies/OhRats_QFF2026_uottawa/blob/main/docs/results/annual-final.json</a:t>
            </a:r>
          </a:p>
          <a:p xmlns:a="http://schemas.openxmlformats.org/drawingml/2006/main">
            <a:r>
              <a:t>https://github.com/OhRats-Technologies/OhRats_QFF2026_uottawa/blob/main/docs/ANNUAL_FINAL.md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rotating phase diagrams use illustrative standardized inputs [-1,0.3,0.8,1.4] and phase 2 theta for RZ applied to a superposition; they do not depict the full entangled ZZ state or measured probabilities. At pi/4, the ten-qubit training matrix is almost identity: rank 31, mean off-diagonal fidelity 0.000805. At pi/32 its entropy effective rank is 5.19 and similarity is 0.538897. Click pi/32 to demonstrate the measured matrix, then return to pi/4. This is a post-final input-only probe, not a new prediction comparison. Narrow angles can become poorly conditioned: the four-qubit narrowest map reaches 45.8 million. This scale diagnostic fitted no predictor and selected no replacement for the frozen final model. A later, separate training-only context pilot uses a fixed pi/32 recipe and a same-width zero control. Its exploratory estimates do not replace these final predictions. Diagnostic chronology · Five measured scales</a:t>
            </a:r>
          </a:p>
          <a:p xmlns:a="http://schemas.openxmlformats.org/drawingml/2006/main">
            <a:r>
              <a:t/>
            </a:r>
          </a:p>
          <a:p xmlns:a="http://schemas.openxmlformats.org/drawingml/2006/main">
            <a:r>
              <a:t>Sources:</a:t>
            </a:r>
          </a:p>
          <a:p xmlns:a="http://schemas.openxmlformats.org/drawingml/2006/main">
            <a:r>
              <a:t>https://github.com/OhRats-Technologies/OhRats_QFF2026_uottawa/blob/main/docs/ANNUAL_BANDWIDTH_GEOMETRY.md</a:t>
            </a:r>
          </a:p>
          <a:p xmlns:a="http://schemas.openxmlformats.org/drawingml/2006/main">
            <a:r>
              <a:t>https://github.com/OhRats-Technologies/OhRats_QFF2026_uottawa/blob/main/docs/results/annual-bandwidth-geometry.json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contribution is a source-audited annual dataset, a matched Qiskit experiment and a concrete explanation of a failing kernel regime. It is not a novel quantum algorithm or operational fire forecast. The next scientific step is to improve the task and independent evidence, not claim a win from reused years. The public 267 kB package reconstructs all 83 predictions and 24 kernels with no fitting or quantum states. Repository entry point · Report</a:t>
            </a:r>
          </a:p>
          <a:p xmlns:a="http://schemas.openxmlformats.org/drawingml/2006/main">
            <a:r>
              <a:t/>
            </a:r>
          </a:p>
          <a:p xmlns:a="http://schemas.openxmlformats.org/drawingml/2006/main">
            <a:r>
              <a:t>Sources:</a:t>
            </a:r>
          </a:p>
          <a:p xmlns:a="http://schemas.openxmlformats.org/drawingml/2006/main">
            <a:r>
              <a:t>https://github.com/OhRats-Technologies/OhRats_QFF2026_uottawa/blob/main/README.md</a:t>
            </a:r>
          </a:p>
          <a:p xmlns:a="http://schemas.openxmlformats.org/drawingml/2006/main">
            <a:r>
              <a:t>https://github.com/OhRats-Technologies/OhRats_QFF2026_uottawa/blob/main/docs/REPORT.md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Qiskit computes squared state overlaps through compute-uncompute. QSVR's optimization remains classical. A linear ZZ map contains single-feature phase terms and pairwise coupling, at one or two repetitions. We fit all preprocessing within training folds and compare RBF on the same inputs. Both families get four bandwidth/map choices crossed with nine C/epsilon settings. Entanglement does not guarantee useful climate interactions. Methods and budgets · Matched plan</a:t>
            </a:r>
          </a:p>
          <a:p xmlns:a="http://schemas.openxmlformats.org/drawingml/2006/main">
            <a:r>
              <a:t/>
            </a:r>
          </a:p>
          <a:p xmlns:a="http://schemas.openxmlformats.org/drawingml/2006/main">
            <a:r>
              <a:t>Sources:</a:t>
            </a:r>
          </a:p>
          <a:p xmlns:a="http://schemas.openxmlformats.org/drawingml/2006/main">
            <a:r>
              <a:t>https://github.com/OhRats-Technologies/OhRats_QFF2026_uottawa/blob/main/docs/ANNUAL_FINAL.md</a:t>
            </a:r>
          </a:p>
          <a:p xmlns:a="http://schemas.openxmlformats.org/drawingml/2006/main">
            <a:r>
              <a:t>https://github.com/OhRats-Technologies/OhRats_QFF2026_uottawa/blob/main/experiments/annual_matched.json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36 training quantum matrices and 12 evaluation matrices. Final training fits 80 sklearn/QSVR predictors plus a separate polynomial trend; evaluation fits none. Local statevector simulation has no hardware shots. Selector draws are synthetic and accounted separately. Historical scientific QA is snapshot-specific; presentation checks are separate. Sources: NRCan NFDB, ECCC monthly summaries, NRCan cover and official Ontario boundary, documented with hashes. Resource receipts · Dataset attribution · Submission checks</a:t>
            </a:r>
          </a:p>
          <a:p xmlns:a="http://schemas.openxmlformats.org/drawingml/2006/main">
            <a:r>
              <a:t/>
            </a:r>
          </a:p>
          <a:p xmlns:a="http://schemas.openxmlformats.org/drawingml/2006/main">
            <a:r>
              <a:t>Sources:</a:t>
            </a:r>
          </a:p>
          <a:p xmlns:a="http://schemas.openxmlformats.org/drawingml/2006/main">
            <a:r>
              <a:t>https://github.com/OhRats-Technologies/OhRats_QFF2026_uottawa/blob/main/docs/ANNUAL_FINAL.md</a:t>
            </a:r>
          </a:p>
          <a:p xmlns:a="http://schemas.openxmlformats.org/drawingml/2006/main">
            <a:r>
              <a:t>https://github.com/OhRats-Technologies/OhRats_QFF2026_uottawa/blob/main/docs/DATA_DOWNLOADS.md</a:t>
            </a:r>
          </a:p>
          <a:p xmlns:a="http://schemas.openxmlformats.org/drawingml/2006/main">
            <a:r>
              <a:t>https://github.com/OhRats-Technologies/OhRats_QFF2026_uottawa/blob/main/docs/SUBMISSION_AUDIT.md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ddabfe4d35425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b9641d5fdc406c" /><Relationship Type="http://schemas.openxmlformats.org/officeDocument/2006/relationships/slideLayout" Target="/ppt/slideLayouts/slideLayout1.xml" Id="Rf815c99ebf8c4a4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15c99ebf8c4a4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0dfce593a04359" /><Relationship Type="http://schemas.openxmlformats.org/officeDocument/2006/relationships/image" Target="/ppt/media/image.png" Id="Rff362c0342f647a9" /><Relationship Type="http://schemas.openxmlformats.org/officeDocument/2006/relationships/notesSlide" Target="/ppt/notesSlides/notesSlide1.xml" Id="R74b0d93e9c5b48c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7435e0731254ab0" /><Relationship Type="http://schemas.openxmlformats.org/officeDocument/2006/relationships/image" Target="/ppt/media/image2.png" Id="R4aae339e553c400a" /><Relationship Type="http://schemas.openxmlformats.org/officeDocument/2006/relationships/notesSlide" Target="/ppt/notesSlides/notesSlide2.xml" Id="R59aa2724f7e54de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63e6a6c89e945ea" /><Relationship Type="http://schemas.openxmlformats.org/officeDocument/2006/relationships/chart" Target="/ppt/slides/charts/chart1.xml" Id="Rf13a29585e55403c" /><Relationship Type="http://schemas.openxmlformats.org/officeDocument/2006/relationships/notesSlide" Target="/ppt/notesSlides/notesSlide3.xml" Id="R351c2b523f474bc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ea67186dd6348fb" /><Relationship Type="http://schemas.openxmlformats.org/officeDocument/2006/relationships/chart" Target="/ppt/slides/charts/chart2.xml" Id="R93c5ab79a07d482d" /><Relationship Type="http://schemas.openxmlformats.org/officeDocument/2006/relationships/notesSlide" Target="/ppt/notesSlides/notesSlide4.xml" Id="R1954caf8c579473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401dbad51224a6a" /><Relationship Type="http://schemas.openxmlformats.org/officeDocument/2006/relationships/chart" Target="/ppt/slides/charts/chart3.xml" Id="R2e885a0285264911" /><Relationship Type="http://schemas.openxmlformats.org/officeDocument/2006/relationships/notesSlide" Target="/ppt/notesSlides/notesSlide5.xml" Id="R87823eeca4db439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2220240aaa14dc7" /><Relationship Type="http://schemas.openxmlformats.org/officeDocument/2006/relationships/chart" Target="/ppt/slides/charts/chart4.xml" Id="Rb0f61ff163204f58" /><Relationship Type="http://schemas.openxmlformats.org/officeDocument/2006/relationships/notesSlide" Target="/ppt/notesSlides/notesSlide6.xml" Id="Rc9a856966476443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aaa590b2a917451e" /><Relationship Type="http://schemas.openxmlformats.org/officeDocument/2006/relationships/notesSlide" Target="/ppt/notesSlides/notesSlide7.xml" Id="R8ac4390c298a480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17b94e533c64e4b" /><Relationship Type="http://schemas.openxmlformats.org/officeDocument/2006/relationships/notesSlide" Target="/ppt/notesSlides/notesSlide8.xml" Id="Ra26af0ce187e49d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a5a1665ebc04de3" /><Relationship Type="http://schemas.openxmlformats.org/officeDocument/2006/relationships/notesSlide" Target="/ppt/notesSlides/notesSlide9.xml" Id="Ra596edc9af7f4cd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Fixed-ridge MAE ha/fire</c:v>
          </c:tx>
          <c:spPr>
            <a:solidFill xmlns:a="http://schemas.openxmlformats.org/drawingml/2006/main">
              <a:srgbClr val="18747C"/>
            </a:solidFill>
          </c:spPr>
          <c:cat>
            <c:strRef>
              <c:f>'Chart Data'!$A$2:$A$4</c:f>
              <c:strCache>
                <c:ptCount val="3"/>
                <c:pt idx="0">
                  <c:v>Exact classical</c:v>
                </c:pt>
                <c:pt idx="1">
                  <c:v>Uniform + SQD</c:v>
                </c:pt>
                <c:pt idx="2">
                  <c:v>QAOA + SQD</c:v>
                </c:pt>
              </c:strCache>
            </c:strRef>
          </c:cat>
          <c:val>
            <c:numRef>
              <c:f>'Chart Data'!$B$2:$B$4</c:f>
              <c:numCache>
                <c:formatCode>0.00</c:formatCode>
                <c:ptCount val="3"/>
                <c:pt idx="0">
                  <c:v>79.580496</c:v>
                </c:pt>
                <c:pt idx="1">
                  <c:v>80.307278</c:v>
                </c:pt>
                <c:pt idx="2">
                  <c:v>81.659944</c:v>
                </c:pt>
              </c:numCache>
            </c:numRef>
          </c:val>
        </c:ser>
        <c:dLbls>
          <c:txPr>
            <a:bodyPr xmlns:a="http://schemas.openxmlformats.org/drawingml/2006/main" anchorCtr="1"/>
            <a:lstStyle xmlns:a="http://schemas.openxmlformats.org/drawingml/2006/main"/>
            <a:p xmlns:a="http://schemas.openxmlformats.org/drawingml/2006/main">
              <a:pPr>
                <a:defRPr sz="1650">
                  <a:solidFill>
                    <a:srgbClr val="17343A"/>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l"/>
        <c:majorGridlines>
          <c:spPr>
            <a:ln xmlns:a="http://schemas.openxmlformats.org/drawingml/2006/main" w="9525">
              <a:solidFill>
                <a:srgbClr val="DFE4E0"/>
              </a:solidFill>
            </a:ln>
          </c:spPr>
        </c:majorGridlines>
        <c:numFmt formatCode="General"/>
        <c:majorTickMark val="none"/>
        <c:minorTickMark val="none"/>
        <c:spPr>
          <a:ln xmlns:a="http://schemas.openxmlformats.org/drawingml/2006/main" w="9525">
            <a:solidFill>
              <a:srgbClr val="CBD3D0"/>
            </a:solidFill>
          </a:ln>
        </c:spPr>
        <c:txPr>
          <a:bodyPr xmlns:a="http://schemas.openxmlformats.org/drawingml/2006/main" anchorCtr="1"/>
          <a:lstStyle xmlns:a="http://schemas.openxmlformats.org/drawingml/2006/main"/>
          <a:p xmlns:a="http://schemas.openxmlformats.org/drawingml/2006/main">
            <a:pPr>
              <a:defRPr sz="1500">
                <a:solidFill>
                  <a:srgbClr val="66777A"/>
                </a:solidFill>
                <a:latin typeface="Arial"/>
                <a:ea typeface="Arial"/>
                <a:cs typeface="Arial"/>
              </a:defRPr>
            </a:pPr>
          </a:p>
        </c:txPr>
        <c:crossAx val="48672768"/>
      </c:catAx>
      <c:valAx>
        <c:axId val="48672768"/>
        <c:scaling>
          <c:orientation val="minMax"/>
          <c:max val="100"/>
          <c:min val="0"/>
        </c:scaling>
        <c:delete val="0"/>
        <c:axPos val="b"/>
        <c:numFmt formatCode="General"/>
        <c:majorTickMark val="none"/>
        <c:minorTickMark val="none"/>
        <c:spPr>
          <a:ln xmlns:a="http://schemas.openxmlformats.org/drawingml/2006/main" w="9525">
            <a:solidFill>
              <a:srgbClr val="CBD3D0"/>
            </a:solidFill>
          </a:ln>
        </c:spPr>
        <c:txPr>
          <a:bodyPr xmlns:a="http://schemas.openxmlformats.org/drawingml/2006/main" anchorCtr="1"/>
          <a:lstStyle xmlns:a="http://schemas.openxmlformats.org/drawingml/2006/main"/>
          <a:p xmlns:a="http://schemas.openxmlformats.org/drawingml/2006/main">
            <a:pPr>
              <a:defRPr sz="1500">
                <a:solidFill>
                  <a:srgbClr val="66777A"/>
                </a:solidFill>
                <a:latin typeface="Arial"/>
                <a:ea typeface="Arial"/>
                <a:cs typeface="Arial"/>
              </a:defRPr>
            </a:pPr>
          </a:p>
        </c:txPr>
        <c:crossAx val="48650112"/>
        <c:crossBetween val="between"/>
        <c:majorUnit val="25"/>
      </c:valAx>
      <c:spPr>
        <a:solidFill xmlns:a="http://schemas.openxmlformats.org/drawingml/2006/main">
          <a:srgbClr val="F7F6F2"/>
        </a:solidFill>
      </c:spPr>
    </c:plotArea>
    <c:plotVisOnly val="1"/>
  </c:chart>
  <c:spPr>
    <a:solidFill xmlns:a="http://schemas.openxmlformats.org/drawingml/2006/main">
      <a:srgbClr val="F7F6F2"/>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MAE ha/fire</c:v>
          </c:tx>
          <c:spPr>
            <a:solidFill xmlns:a="http://schemas.openxmlformats.org/drawingml/2006/main">
              <a:srgbClr val="18747C"/>
            </a:solidFill>
          </c:spPr>
          <c:dPt>
            <c:idx val="0"/>
            <c:invertIfNegative val="0"/>
            <c:spPr>
              <a:solidFill xmlns:a="http://schemas.openxmlformats.org/drawingml/2006/main">
                <a:srgbClr val="7C8988"/>
              </a:solidFill>
            </c:spPr>
          </c:dPt>
          <c:dPt>
            <c:idx val="1"/>
            <c:invertIfNegative val="0"/>
            <c:spPr>
              <a:solidFill xmlns:a="http://schemas.openxmlformats.org/drawingml/2006/main">
                <a:srgbClr val="A4B6B0"/>
              </a:solidFill>
            </c:spPr>
          </c:dPt>
          <c:dPt>
            <c:idx val="2"/>
            <c:invertIfNegative val="0"/>
            <c:spPr>
              <a:solidFill xmlns:a="http://schemas.openxmlformats.org/drawingml/2006/main">
                <a:srgbClr val="18747C"/>
              </a:solidFill>
            </c:spPr>
          </c:dPt>
          <c:cat>
            <c:strRef>
              <c:f>'Chart Data'!$A$2:$A$4</c:f>
              <c:strCache>
                <c:ptCount val="3"/>
                <c:pt idx="0">
                  <c:v>Training mean</c:v>
                </c:pt>
                <c:pt idx="1">
                  <c:v>RBF-SVR · 4 inputs</c:v>
                </c:pt>
                <c:pt idx="2">
                  <c:v>QSVR · 4 qubits</c:v>
                </c:pt>
              </c:strCache>
            </c:strRef>
          </c:cat>
          <c:val>
            <c:numRef>
              <c:f>'Chart Data'!$B$2:$B$4</c:f>
              <c:numCache>
                <c:formatCode>0.00</c:formatCode>
                <c:ptCount val="3"/>
                <c:pt idx="0">
                  <c:v>91.999488</c:v>
                </c:pt>
                <c:pt idx="1">
                  <c:v>77.01875</c:v>
                </c:pt>
                <c:pt idx="2">
                  <c:v>86.642474</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7343A"/>
                  </a:solidFill>
                  <a:latin typeface="Arial"/>
                  <a:ea typeface="Arial"/>
                  <a:cs typeface="Arial"/>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DFE4E0"/>
              </a:solidFill>
            </a:ln>
          </c:spPr>
        </c:majorGridlines>
        <c:numFmt formatCode="0.00"/>
        <c:majorTickMark val="none"/>
        <c:minorTickMark val="none"/>
        <c:spPr>
          <a:ln xmlns:a="http://schemas.openxmlformats.org/drawingml/2006/main" w="9525">
            <a:solidFill>
              <a:srgbClr val="CBD3D0"/>
            </a:solidFill>
          </a:ln>
        </c:spPr>
        <c:txPr>
          <a:bodyPr xmlns:a="http://schemas.openxmlformats.org/drawingml/2006/main" anchorCtr="1"/>
          <a:lstStyle xmlns:a="http://schemas.openxmlformats.org/drawingml/2006/main"/>
          <a:p xmlns:a="http://schemas.openxmlformats.org/drawingml/2006/main">
            <a:pPr>
              <a:defRPr sz="1500">
                <a:solidFill>
                  <a:srgbClr val="66777A"/>
                </a:solidFill>
                <a:latin typeface="Arial"/>
                <a:ea typeface="Arial"/>
                <a:cs typeface="Arial"/>
              </a:defRPr>
            </a:pPr>
          </a:p>
        </c:txPr>
        <c:crossAx val="48672768"/>
      </c:catAx>
      <c:valAx>
        <c:axId val="48672768"/>
        <c:scaling>
          <c:orientation val="minMax"/>
          <c:max val="110"/>
          <c:min val="0"/>
        </c:scaling>
        <c:delete val="0"/>
        <c:axPos val="b"/>
        <c:numFmt formatCode="General"/>
        <c:majorTickMark val="none"/>
        <c:minorTickMark val="none"/>
        <c:spPr>
          <a:ln xmlns:a="http://schemas.openxmlformats.org/drawingml/2006/main" w="9525">
            <a:solidFill>
              <a:srgbClr val="CBD3D0"/>
            </a:solidFill>
          </a:ln>
        </c:spPr>
        <c:txPr>
          <a:bodyPr xmlns:a="http://schemas.openxmlformats.org/drawingml/2006/main" anchorCtr="1"/>
          <a:lstStyle xmlns:a="http://schemas.openxmlformats.org/drawingml/2006/main"/>
          <a:p xmlns:a="http://schemas.openxmlformats.org/drawingml/2006/main">
            <a:pPr>
              <a:defRPr sz="1500">
                <a:solidFill>
                  <a:srgbClr val="66777A"/>
                </a:solidFill>
                <a:latin typeface="Arial"/>
                <a:ea typeface="Arial"/>
                <a:cs typeface="Arial"/>
              </a:defRPr>
            </a:pPr>
          </a:p>
        </c:txPr>
        <c:crossAx val="48650112"/>
        <c:crossBetween val="between"/>
        <c:majorUnit val="20"/>
      </c:valAx>
      <c:spPr>
        <a:solidFill xmlns:a="http://schemas.openxmlformats.org/drawingml/2006/main">
          <a:srgbClr val="F7F6F2"/>
        </a:solidFill>
      </c:spPr>
    </c:plotArea>
    <c:plotVisOnly val="1"/>
  </c:chart>
  <c:spPr>
    <a:solidFill xmlns:a="http://schemas.openxmlformats.org/drawingml/2006/main">
      <a:srgbClr val="F7F6F2"/>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Recorded mean</c:v>
          </c:tx>
          <c:spPr>
            <a:solidFill xmlns:a="http://schemas.openxmlformats.org/drawingml/2006/main">
              <a:srgbClr val="C46242"/>
            </a:solidFill>
          </c:spPr>
          <c:cat>
            <c:numRef>
              <c:f>'Chart Data'!$A$2:$A$7</c:f>
              <c:numCache>
                <c:formatCode>General</c:formatCode>
                <c:ptCount val="6"/>
                <c:pt idx="0">
                  <c:v>2019</c:v>
                </c:pt>
                <c:pt idx="1">
                  <c:v>2020</c:v>
                </c:pt>
                <c:pt idx="2">
                  <c:v>2021</c:v>
                </c:pt>
                <c:pt idx="3">
                  <c:v>2022</c:v>
                </c:pt>
                <c:pt idx="4">
                  <c:v>2023</c:v>
                </c:pt>
                <c:pt idx="5">
                  <c:v>2024</c:v>
                </c:pt>
              </c:numCache>
            </c:numRef>
          </c:cat>
          <c:val>
            <c:numRef>
              <c:f>'Chart Data'!$B$2:$B$7</c:f>
              <c:numCache>
                <c:formatCode>0.00</c:formatCode>
                <c:ptCount val="6"/>
                <c:pt idx="0">
                  <c:v>503.04832</c:v>
                </c:pt>
                <c:pt idx="1">
                  <c:v>25.514711</c:v>
                </c:pt>
                <c:pt idx="2">
                  <c:v>656.990786</c:v>
                </c:pt>
                <c:pt idx="3">
                  <c:v>9.34343</c:v>
                </c:pt>
                <c:pt idx="4">
                  <c:v>598.199864</c:v>
                </c:pt>
                <c:pt idx="5">
                  <c:v>186.72079</c:v>
                </c:pt>
              </c:numCache>
            </c:numRef>
          </c:val>
        </c:ser>
        <c:ser>
          <c:idx val="1"/>
          <c:order val="1"/>
          <c:tx>
            <c:v>Training mean</c:v>
          </c:tx>
          <c:spPr>
            <a:solidFill xmlns:a="http://schemas.openxmlformats.org/drawingml/2006/main">
              <a:srgbClr val="7C8988"/>
            </a:solidFill>
          </c:spPr>
          <c:cat>
            <c:numRef>
              <c:f>'Chart Data'!$C$2:$C$7</c:f>
              <c:numCache>
                <c:formatCode>General</c:formatCode>
                <c:ptCount val="6"/>
                <c:pt idx="0">
                  <c:v>2019</c:v>
                </c:pt>
                <c:pt idx="1">
                  <c:v>2020</c:v>
                </c:pt>
                <c:pt idx="2">
                  <c:v>2021</c:v>
                </c:pt>
                <c:pt idx="3">
                  <c:v>2022</c:v>
                </c:pt>
                <c:pt idx="4">
                  <c:v>2023</c:v>
                </c:pt>
                <c:pt idx="5">
                  <c:v>2024</c:v>
                </c:pt>
              </c:numCache>
            </c:numRef>
          </c:cat>
          <c:val>
            <c:numRef>
              <c:f>'Chart Data'!$D$2:$D$7</c:f>
              <c:numCache>
                <c:formatCode>0.00</c:formatCode>
                <c:ptCount val="6"/>
                <c:pt idx="0">
                  <c:v>124.628248</c:v>
                </c:pt>
                <c:pt idx="1">
                  <c:v>124.628248</c:v>
                </c:pt>
                <c:pt idx="2">
                  <c:v>124.628248</c:v>
                </c:pt>
                <c:pt idx="3">
                  <c:v>124.628248</c:v>
                </c:pt>
                <c:pt idx="4">
                  <c:v>124.628248</c:v>
                </c:pt>
                <c:pt idx="5">
                  <c:v>124.628248</c:v>
                </c:pt>
              </c:numCache>
            </c:numRef>
          </c:val>
        </c:ser>
        <c:ser>
          <c:idx val="2"/>
          <c:order val="2"/>
          <c:tx>
            <c:v>QSVR · 4</c:v>
          </c:tx>
          <c:spPr>
            <a:solidFill xmlns:a="http://schemas.openxmlformats.org/drawingml/2006/main">
              <a:srgbClr val="18747C"/>
            </a:solidFill>
          </c:spPr>
          <c:cat>
            <c:numRef>
              <c:f>'Chart Data'!$E$2:$E$7</c:f>
              <c:numCache>
                <c:formatCode>General</c:formatCode>
                <c:ptCount val="6"/>
                <c:pt idx="0">
                  <c:v>2019</c:v>
                </c:pt>
                <c:pt idx="1">
                  <c:v>2020</c:v>
                </c:pt>
                <c:pt idx="2">
                  <c:v>2021</c:v>
                </c:pt>
                <c:pt idx="3">
                  <c:v>2022</c:v>
                </c:pt>
                <c:pt idx="4">
                  <c:v>2023</c:v>
                </c:pt>
                <c:pt idx="5">
                  <c:v>2024</c:v>
                </c:pt>
              </c:numCache>
            </c:numRef>
          </c:cat>
          <c:val>
            <c:numRef>
              <c:f>'Chart Data'!$F$2:$F$7</c:f>
              <c:numCache>
                <c:formatCode>0.00</c:formatCode>
                <c:ptCount val="6"/>
                <c:pt idx="0">
                  <c:v>77.10534</c:v>
                </c:pt>
                <c:pt idx="1">
                  <c:v>72.465058</c:v>
                </c:pt>
                <c:pt idx="2">
                  <c:v>95.905954</c:v>
                </c:pt>
                <c:pt idx="3">
                  <c:v>51.647157</c:v>
                </c:pt>
                <c:pt idx="4">
                  <c:v>120.156815</c:v>
                </c:pt>
                <c:pt idx="5">
                  <c:v>56.99458</c:v>
                </c:pt>
              </c:numCache>
            </c:numRef>
          </c:val>
        </c:ser>
        <c:ser>
          <c:idx val="3"/>
          <c:order val="3"/>
          <c:tx>
            <c:v>RBF · 4</c:v>
          </c:tx>
          <c:spPr>
            <a:solidFill xmlns:a="http://schemas.openxmlformats.org/drawingml/2006/main">
              <a:srgbClr val="A4B6B0"/>
            </a:solidFill>
          </c:spPr>
          <c:cat>
            <c:numRef>
              <c:f>'Chart Data'!$G$2:$G$7</c:f>
              <c:numCache>
                <c:formatCode>General</c:formatCode>
                <c:ptCount val="6"/>
                <c:pt idx="0">
                  <c:v>2019</c:v>
                </c:pt>
                <c:pt idx="1">
                  <c:v>2020</c:v>
                </c:pt>
                <c:pt idx="2">
                  <c:v>2021</c:v>
                </c:pt>
                <c:pt idx="3">
                  <c:v>2022</c:v>
                </c:pt>
                <c:pt idx="4">
                  <c:v>2023</c:v>
                </c:pt>
                <c:pt idx="5">
                  <c:v>2024</c:v>
                </c:pt>
              </c:numCache>
            </c:numRef>
          </c:cat>
          <c:val>
            <c:numRef>
              <c:f>'Chart Data'!$H$2:$H$7</c:f>
              <c:numCache>
                <c:formatCode>0.00</c:formatCode>
                <c:ptCount val="6"/>
                <c:pt idx="0">
                  <c:v>57.157778</c:v>
                </c:pt>
                <c:pt idx="1">
                  <c:v>58.511924</c:v>
                </c:pt>
                <c:pt idx="2">
                  <c:v>60.207452</c:v>
                </c:pt>
                <c:pt idx="3">
                  <c:v>57.557056</c:v>
                </c:pt>
                <c:pt idx="4">
                  <c:v>57.504895</c:v>
                </c:pt>
                <c:pt idx="5">
                  <c:v>52.444541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6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3D0"/>
            </a:solidFill>
          </a:ln>
        </c:spPr>
        <c:txPr>
          <a:bodyPr xmlns:a="http://schemas.openxmlformats.org/drawingml/2006/main" anchorCtr="1"/>
          <a:lstStyle xmlns:a="http://schemas.openxmlformats.org/drawingml/2006/main"/>
          <a:p xmlns:a="http://schemas.openxmlformats.org/drawingml/2006/main">
            <a:pPr>
              <a:defRPr sz="1500">
                <a:solidFill>
                  <a:srgbClr val="66777A"/>
                </a:solidFill>
                <a:latin typeface="Arial"/>
                <a:ea typeface="Arial"/>
                <a:cs typeface="Arial"/>
              </a:defRPr>
            </a:pPr>
          </a:p>
        </c:txPr>
        <c:crossAx val="48672768"/>
      </c:catAx>
      <c:valAx>
        <c:axId val="48672768"/>
        <c:scaling>
          <c:orientation val="minMax"/>
          <c:max val="700"/>
          <c:min val="0"/>
        </c:scaling>
        <c:delete val="0"/>
        <c:axPos val="l"/>
        <c:majorGridlines>
          <c:spPr>
            <a:ln xmlns:a="http://schemas.openxmlformats.org/drawingml/2006/main" w="9525">
              <a:solidFill>
                <a:srgbClr val="DFE4E0"/>
              </a:solidFill>
            </a:ln>
          </c:spPr>
        </c:majorGridlines>
        <c:numFmt formatCode="0"/>
        <c:majorTickMark val="none"/>
        <c:minorTickMark val="none"/>
        <c:spPr>
          <a:ln xmlns:a="http://schemas.openxmlformats.org/drawingml/2006/main" w="9525">
            <a:solidFill>
              <a:srgbClr val="CBD3D0"/>
            </a:solidFill>
          </a:ln>
        </c:spPr>
        <c:txPr>
          <a:bodyPr xmlns:a="http://schemas.openxmlformats.org/drawingml/2006/main" anchorCtr="1"/>
          <a:lstStyle xmlns:a="http://schemas.openxmlformats.org/drawingml/2006/main"/>
          <a:p xmlns:a="http://schemas.openxmlformats.org/drawingml/2006/main">
            <a:pPr>
              <a:defRPr sz="1500">
                <a:solidFill>
                  <a:srgbClr val="66777A"/>
                </a:solidFill>
                <a:latin typeface="Arial"/>
                <a:ea typeface="Arial"/>
                <a:cs typeface="Arial"/>
              </a:defRPr>
            </a:pPr>
          </a:p>
        </c:txPr>
        <c:crossAx val="48650112"/>
        <c:crossBetween val="between"/>
        <c:majorUnit val="200"/>
      </c:valAx>
      <c:spPr>
        <a:solidFill xmlns:a="http://schemas.openxmlformats.org/drawingml/2006/main">
          <a:srgbClr val="F7F6F2"/>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solidFill>
                <a:srgbClr val="17343A"/>
              </a:solidFill>
              <a:latin typeface="Arial"/>
              <a:ea typeface="Arial"/>
              <a:cs typeface="Arial"/>
            </a:defRPr>
          </a:pPr>
        </a:p>
      </c:txPr>
    </c:legend>
    <c:plotVisOnly val="1"/>
  </c:chart>
  <c:spPr>
    <a:solidFill xmlns:a="http://schemas.openxmlformats.org/drawingml/2006/main">
      <a:srgbClr val="F7F6F2"/>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Measured effective rank /31</c:v>
          </c:tx>
          <c:spPr>
            <a:solidFill xmlns:a="http://schemas.openxmlformats.org/drawingml/2006/main">
              <a:srgbClr val="18747C"/>
            </a:solidFill>
          </c:spPr>
          <c:cat>
            <c:strRef>
              <c:f>'Chart Data'!$A$2:$A$6</c:f>
              <c:strCache>
                <c:ptCount val="5"/>
                <c:pt idx="0">
                  <c:v>π/32</c:v>
                </c:pt>
                <c:pt idx="1">
                  <c:v>π/16</c:v>
                </c:pt>
                <c:pt idx="2">
                  <c:v>π/8</c:v>
                </c:pt>
                <c:pt idx="3">
                  <c:v>π/4</c:v>
                </c:pt>
                <c:pt idx="4">
                  <c:v>π/2</c:v>
                </c:pt>
              </c:strCache>
            </c:strRef>
          </c:cat>
          <c:val>
            <c:numRef>
              <c:f>'Chart Data'!$B$2:$B$6</c:f>
              <c:numCache>
                <c:formatCode>0.00</c:formatCode>
                <c:ptCount val="5"/>
                <c:pt idx="0">
                  <c:v>5.187322</c:v>
                </c:pt>
                <c:pt idx="1">
                  <c:v>19.027874</c:v>
                </c:pt>
                <c:pt idx="2">
                  <c:v>30.661478</c:v>
                </c:pt>
                <c:pt idx="3">
                  <c:v>30.998029</c:v>
                </c:pt>
                <c:pt idx="4">
                  <c:v>30.996759</c:v>
                </c:pt>
              </c:numCache>
            </c:numRef>
          </c:val>
        </c:ser>
        <c:dLbls>
          <c:txPr>
            <a:bodyPr xmlns:a="http://schemas.openxmlformats.org/drawingml/2006/main" anchorCtr="1"/>
            <a:lstStyle xmlns:a="http://schemas.openxmlformats.org/drawingml/2006/main"/>
            <a:p xmlns:a="http://schemas.openxmlformats.org/drawingml/2006/main">
              <a:pPr>
                <a:defRPr sz="1500">
                  <a:solidFill>
                    <a:srgbClr val="17343A"/>
                  </a:solidFill>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BD3D0"/>
            </a:solidFill>
          </a:ln>
        </c:spPr>
        <c:txPr>
          <a:bodyPr xmlns:a="http://schemas.openxmlformats.org/drawingml/2006/main" anchorCtr="1"/>
          <a:lstStyle xmlns:a="http://schemas.openxmlformats.org/drawingml/2006/main"/>
          <a:p xmlns:a="http://schemas.openxmlformats.org/drawingml/2006/main">
            <a:pPr>
              <a:defRPr sz="1500">
                <a:solidFill>
                  <a:srgbClr val="66777A"/>
                </a:solidFill>
                <a:latin typeface="Arial"/>
                <a:ea typeface="Arial"/>
                <a:cs typeface="Arial"/>
              </a:defRPr>
            </a:pPr>
          </a:p>
        </c:txPr>
        <c:crossAx val="48672768"/>
      </c:catAx>
      <c:valAx>
        <c:axId val="48672768"/>
        <c:scaling>
          <c:orientation val="minMax"/>
          <c:max val="31"/>
          <c:min val="0"/>
        </c:scaling>
        <c:delete val="0"/>
        <c:axPos val="l"/>
        <c:majorGridlines>
          <c:spPr>
            <a:ln xmlns:a="http://schemas.openxmlformats.org/drawingml/2006/main" w="9525">
              <a:solidFill>
                <a:srgbClr val="DFE4E0"/>
              </a:solidFill>
            </a:ln>
          </c:spPr>
        </c:majorGridlines>
        <c:numFmt formatCode="0"/>
        <c:majorTickMark val="none"/>
        <c:minorTickMark val="none"/>
        <c:spPr>
          <a:ln xmlns:a="http://schemas.openxmlformats.org/drawingml/2006/main" w="9525">
            <a:solidFill>
              <a:srgbClr val="CBD3D0"/>
            </a:solidFill>
          </a:ln>
        </c:spPr>
        <c:txPr>
          <a:bodyPr xmlns:a="http://schemas.openxmlformats.org/drawingml/2006/main" anchorCtr="1"/>
          <a:lstStyle xmlns:a="http://schemas.openxmlformats.org/drawingml/2006/main"/>
          <a:p xmlns:a="http://schemas.openxmlformats.org/drawingml/2006/main">
            <a:pPr>
              <a:defRPr sz="1500">
                <a:solidFill>
                  <a:srgbClr val="66777A"/>
                </a:solidFill>
                <a:latin typeface="Arial"/>
                <a:ea typeface="Arial"/>
                <a:cs typeface="Arial"/>
              </a:defRPr>
            </a:pPr>
          </a:p>
        </c:txPr>
        <c:crossAx val="48650112"/>
        <c:crossBetween val="between"/>
      </c:valAx>
      <c:spPr>
        <a:solidFill xmlns:a="http://schemas.openxmlformats.org/drawingml/2006/main">
          <a:srgbClr val="F7F6F2"/>
        </a:solidFill>
      </c:spPr>
    </c:plotArea>
    <c:plotVisOnly val="1"/>
  </c:chart>
  <c:spPr>
    <a:solidFill xmlns:a="http://schemas.openxmlformats.org/drawingml/2006/main">
      <a:srgbClr val="F7F6F2"/>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71E24"/>
        </a:solidFill>
      </p:bgPr>
    </p:bg>
    <p:spTree>
      <p:nvGrpSpPr>
        <p:cNvPr id="1" name=""/>
        <p:cNvGrpSpPr/>
        <p:nvPr/>
      </p:nvGrpSpPr>
      <p:grpSpPr>
        <a:xfrm xmlns:a="http://schemas.openxmlformats.org/drawingml/2006/main"/>
      </p:grpSpPr>
      <p:pic>
        <p:nvPicPr>
          <p:cNvPr id="8" name=""/>
          <p:cNvPicPr>
            <a:picLocks xmlns:a="http://schemas.openxmlformats.org/drawingml/2006/main" noChangeAspect="1"/>
          </p:cNvPicPr>
          <p:nvPr/>
        </p:nvPicPr>
        <p:blipFill>
          <a:blip xmlns:r="http://schemas.openxmlformats.org/officeDocument/2006/relationships" xmlns:a="http://schemas.openxmlformats.org/drawingml/2006/main" r:embed="Rff362c0342f647a9"/>
          <a:stretch xmlns:a="http://schemas.openxmlformats.org/drawingml/2006/main"/>
        </p:blipFill>
        <p:spPr>
          <a:xfrm xmlns:a="http://schemas.openxmlformats.org/drawingml/2006/main">
            <a:off x="6618129" y="381000"/>
            <a:ext cx="5146993" cy="55245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670A1714-3578-4584-BBD6-DCF8545280A5}"/>
              </a:ext>
            </a:extLst>
          </p:cNvPr>
          <p:cNvSpPr>
            <a:spLocks xmlns:a="http://schemas.openxmlformats.org/drawingml/2006/main" noGrp="1"/>
          </p:cNvSpPr>
          <p:nvPr/>
        </p:nvSpPr>
        <p:spPr>
          <a:xfrm xmlns:a="http://schemas.openxmlformats.org/drawingml/2006/main">
            <a:off x="723900" y="619125"/>
            <a:ext cx="952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A8BDB4"/>
                </a:solidFill>
                <a:latin typeface="Arial"/>
                <a:ea typeface="Arial"/>
                <a:cs typeface="Arial"/>
              </a:defRPr>
            </a:pPr>
            <a:r>
              <a:rPr sz="1500" b="0">
                <a:solidFill>
                  <a:srgbClr val="A8BDB4"/>
                </a:solidFill>
                <a:latin typeface="Arial"/>
                <a:ea typeface="Arial"/>
                <a:cs typeface="Arial"/>
              </a:rPr>
              <a:t>Ontario · Qiskit Fall Fest</a:t>
            </a:r>
          </a:p>
        </p:txBody>
      </p:sp>
      <p:sp>
        <p:nvSpPr>
          <p:cNvPr id="3" name="">
            <a:extLst xmlns:a="http://schemas.openxmlformats.org/drawingml/2006/main">
              <a:ext uri="{FF2B5EF4-FFF2-40B4-BE49-F238E27FC236}">
                <a16:creationId xmlns:a16="http://schemas.microsoft.com/office/drawing/2014/main" id="{E2836B3D-7FE4-45F4-A221-B3F91A973DCF}"/>
              </a:ext>
            </a:extLst>
          </p:cNvPr>
          <p:cNvSpPr>
            <a:spLocks xmlns:a="http://schemas.openxmlformats.org/drawingml/2006/main" noGrp="1"/>
          </p:cNvSpPr>
          <p:nvPr/>
        </p:nvSpPr>
        <p:spPr>
          <a:xfrm xmlns:a="http://schemas.openxmlformats.org/drawingml/2006/main">
            <a:off x="723900" y="1524000"/>
            <a:ext cx="5905500" cy="1857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500" b="0">
                <a:solidFill>
                  <a:srgbClr val="F3F5E9"/>
                </a:solidFill>
                <a:latin typeface="Arial"/>
                <a:ea typeface="Arial"/>
                <a:cs typeface="Arial"/>
              </a:defRPr>
            </a:pPr>
            <a:r>
              <a:rPr sz="4500" b="0">
                <a:solidFill>
                  <a:srgbClr val="F3F5E9"/>
                </a:solidFill>
                <a:latin typeface="Arial"/>
                <a:ea typeface="Arial"/>
                <a:cs typeface="Arial"/>
              </a:rPr>
              <a:t>Can quantum kernels</a:t>
            </a:r>
          </a:p>
          <a:p xmlns:a="http://schemas.openxmlformats.org/drawingml/2006/main">
            <a:pPr>
              <a:defRPr sz="4500" b="0">
                <a:solidFill>
                  <a:srgbClr val="F3F5E9"/>
                </a:solidFill>
                <a:latin typeface="Arial"/>
                <a:ea typeface="Arial"/>
                <a:cs typeface="Arial"/>
              </a:defRPr>
            </a:pPr>
            <a:r>
              <a:rPr sz="4500" b="0">
                <a:solidFill>
                  <a:srgbClr val="F3F5E9"/>
                </a:solidFill>
                <a:latin typeface="Arial"/>
                <a:ea typeface="Arial"/>
                <a:cs typeface="Arial"/>
              </a:rPr>
              <a:t>estimate fire size?</a:t>
            </a:r>
          </a:p>
        </p:txBody>
      </p:sp>
      <p:sp>
        <p:nvSpPr>
          <p:cNvPr id="4" name="">
            <a:extLst xmlns:a="http://schemas.openxmlformats.org/drawingml/2006/main">
              <a:ext uri="{FF2B5EF4-FFF2-40B4-BE49-F238E27FC236}">
                <a16:creationId xmlns:a16="http://schemas.microsoft.com/office/drawing/2014/main" id="{E1B18CD1-1268-4ED5-A229-3E9686810924}"/>
              </a:ext>
            </a:extLst>
          </p:cNvPr>
          <p:cNvSpPr>
            <a:spLocks xmlns:a="http://schemas.openxmlformats.org/drawingml/2006/main" noGrp="1"/>
          </p:cNvSpPr>
          <p:nvPr/>
        </p:nvSpPr>
        <p:spPr>
          <a:xfrm xmlns:a="http://schemas.openxmlformats.org/drawingml/2006/main">
            <a:off x="723900" y="3476625"/>
            <a:ext cx="5715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C2D0C5"/>
                </a:solidFill>
                <a:latin typeface="Arial"/>
                <a:ea typeface="Arial"/>
                <a:cs typeface="Arial"/>
              </a:defRPr>
            </a:pPr>
            <a:r>
              <a:rPr sz="1800" b="0">
                <a:solidFill>
                  <a:srgbClr val="C2D0C5"/>
                </a:solidFill>
                <a:latin typeface="Arial"/>
                <a:ea typeface="Arial"/>
                <a:cs typeface="Arial"/>
              </a:rPr>
              <a:t>Annual mean size. Four qubits.</a:t>
            </a:r>
          </a:p>
          <a:p xmlns:a="http://schemas.openxmlformats.org/drawingml/2006/main">
            <a:pPr>
              <a:defRPr sz="1800" b="0">
                <a:solidFill>
                  <a:srgbClr val="C2D0C5"/>
                </a:solidFill>
                <a:latin typeface="Arial"/>
                <a:ea typeface="Arial"/>
                <a:cs typeface="Arial"/>
              </a:defRPr>
            </a:pPr>
            <a:r>
              <a:rPr sz="1800" b="0">
                <a:solidFill>
                  <a:srgbClr val="C2D0C5"/>
                </a:solidFill>
                <a:latin typeface="Arial"/>
                <a:ea typeface="Arial"/>
                <a:cs typeface="Arial"/>
              </a:rPr>
              <a:t>A matched comparison.</a:t>
            </a:r>
          </a:p>
        </p:txBody>
      </p:sp>
      <p:sp>
        <p:nvSpPr>
          <p:cNvPr id="5" name="">
            <a:extLst xmlns:a="http://schemas.openxmlformats.org/drawingml/2006/main">
              <a:ext uri="{FF2B5EF4-FFF2-40B4-BE49-F238E27FC236}">
                <a16:creationId xmlns:a16="http://schemas.microsoft.com/office/drawing/2014/main" id="{3C10E7DD-79C9-4172-9676-580C2050A10B}"/>
              </a:ext>
            </a:extLst>
          </p:cNvPr>
          <p:cNvSpPr>
            <a:spLocks xmlns:a="http://schemas.openxmlformats.org/drawingml/2006/main" noGrp="1"/>
          </p:cNvSpPr>
          <p:nvPr/>
        </p:nvSpPr>
        <p:spPr>
          <a:xfrm xmlns:a="http://schemas.openxmlformats.org/drawingml/2006/main">
            <a:off x="723900" y="4305300"/>
            <a:ext cx="2190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500" b="0">
                <a:solidFill>
                  <a:srgbClr val="DDAA6C"/>
                </a:solidFill>
                <a:latin typeface="Arial"/>
                <a:ea typeface="Arial"/>
                <a:cs typeface="Arial"/>
              </a:defRPr>
            </a:pPr>
            <a:r>
              <a:rPr sz="7500" b="0">
                <a:solidFill>
                  <a:srgbClr val="DDAA6C"/>
                </a:solidFill>
                <a:latin typeface="Arial"/>
                <a:ea typeface="Arial"/>
                <a:cs typeface="Arial"/>
              </a:rPr>
              <a:t>657</a:t>
            </a:r>
          </a:p>
        </p:txBody>
      </p:sp>
      <p:sp>
        <p:nvSpPr>
          <p:cNvPr id="6" name="">
            <a:extLst xmlns:a="http://schemas.openxmlformats.org/drawingml/2006/main">
              <a:ext uri="{FF2B5EF4-FFF2-40B4-BE49-F238E27FC236}">
                <a16:creationId xmlns:a16="http://schemas.microsoft.com/office/drawing/2014/main" id="{B443AFE2-90E1-4FD3-A71A-1ED2E86B3260}"/>
              </a:ext>
            </a:extLst>
          </p:cNvPr>
          <p:cNvSpPr>
            <a:spLocks xmlns:a="http://schemas.openxmlformats.org/drawingml/2006/main" noGrp="1"/>
          </p:cNvSpPr>
          <p:nvPr/>
        </p:nvSpPr>
        <p:spPr>
          <a:xfrm xmlns:a="http://schemas.openxmlformats.org/drawingml/2006/main">
            <a:off x="3143250" y="4514850"/>
            <a:ext cx="4762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2D0C5"/>
                </a:solidFill>
                <a:latin typeface="Arial"/>
                <a:ea typeface="Arial"/>
                <a:cs typeface="Arial"/>
              </a:defRPr>
            </a:pPr>
            <a:r>
              <a:rPr sz="1875" b="0">
                <a:solidFill>
                  <a:srgbClr val="C2D0C5"/>
                </a:solidFill>
                <a:latin typeface="Arial"/>
                <a:ea typeface="Arial"/>
                <a:cs typeface="Arial"/>
              </a:rPr>
              <a:t>ha / recorded fire</a:t>
            </a:r>
          </a:p>
          <a:p xmlns:a="http://schemas.openxmlformats.org/drawingml/2006/main">
            <a:pPr>
              <a:defRPr sz="1875" b="0">
                <a:solidFill>
                  <a:srgbClr val="C2D0C5"/>
                </a:solidFill>
                <a:latin typeface="Arial"/>
                <a:ea typeface="Arial"/>
                <a:cs typeface="Arial"/>
              </a:defRPr>
            </a:pPr>
            <a:r>
              <a:rPr sz="1875" b="0">
                <a:solidFill>
                  <a:srgbClr val="C2D0C5"/>
                </a:solidFill>
                <a:latin typeface="Arial"/>
                <a:ea typeface="Arial"/>
                <a:cs typeface="Arial"/>
              </a:rPr>
              <a:t>Ontario, 2021</a:t>
            </a:r>
          </a:p>
        </p:txBody>
      </p:sp>
      <p:sp>
        <p:nvSpPr>
          <p:cNvPr id="7" name="">
            <a:extLst xmlns:a="http://schemas.openxmlformats.org/drawingml/2006/main">
              <a:ext uri="{FF2B5EF4-FFF2-40B4-BE49-F238E27FC236}">
                <a16:creationId xmlns:a16="http://schemas.microsoft.com/office/drawing/2014/main" id="{368CF175-B27B-4A4C-87EE-71FA973934EC}"/>
              </a:ext>
            </a:extLst>
          </p:cNvPr>
          <p:cNvSpPr>
            <a:spLocks xmlns:a="http://schemas.openxmlformats.org/drawingml/2006/main" noGrp="1"/>
          </p:cNvSpPr>
          <p:nvPr/>
        </p:nvSpPr>
        <p:spPr>
          <a:xfrm xmlns:a="http://schemas.openxmlformats.org/drawingml/2006/main">
            <a:off x="723900" y="6115050"/>
            <a:ext cx="10744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A8BDB4"/>
                </a:solidFill>
                <a:latin typeface="Arial"/>
                <a:ea typeface="Arial"/>
                <a:cs typeface="Arial"/>
              </a:defRPr>
            </a:pPr>
            <a:r>
              <a:rPr sz="1425" b="0">
                <a:solidFill>
                  <a:srgbClr val="A8BDB4"/>
                </a:solidFill>
                <a:latin typeface="Arial"/>
                <a:ea typeface="Arial"/>
                <a:cs typeface="Arial"/>
              </a:rPr>
              <a:t>Full Ontario boundary · grey = unmapped woodland · 2021 records</a:t>
            </a:r>
          </a:p>
        </p:txBody>
      </p:sp>
    </p:spTree>
    <p:extLst>
      <p:ext uri="{BB962C8B-B14F-4D97-AF65-F5344CB8AC3E}">
        <p14:creationId xmlns:p14="http://schemas.microsoft.com/office/powerpoint/2010/main" val="1948803795"/>
      </p:ext>
    </p:extLst>
  </p:cSld>
</p:sld>
</file>

<file path=ppt/slides/slide2.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2A1607F-B93A-4295-A052-89F23E6633A7}"/>
              </a:ext>
            </a:extLst>
          </p:cNvPr>
          <p:cNvSpPr>
            <a:spLocks xmlns:a="http://schemas.openxmlformats.org/drawingml/2006/main" noGrp="1"/>
          </p:cNvSpPr>
          <p:nvPr/>
        </p:nvSpPr>
        <p:spPr>
          <a:xfrm xmlns:a="http://schemas.openxmlformats.org/drawingml/2006/main">
            <a:off x="723900" y="5905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343A"/>
                </a:solidFill>
                <a:latin typeface="Arial"/>
                <a:ea typeface="Arial"/>
                <a:cs typeface="Arial"/>
              </a:defRPr>
            </a:pPr>
            <a:r>
              <a:rPr sz="3450" b="0">
                <a:solidFill>
                  <a:srgbClr val="17343A"/>
                </a:solidFill>
                <a:latin typeface="Arial"/>
                <a:ea typeface="Arial"/>
                <a:cs typeface="Arial"/>
              </a:rPr>
              <a:t>One Ontario year. One row.</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4aae339e553c400a"/>
          <a:stretch xmlns:a="http://schemas.openxmlformats.org/drawingml/2006/main"/>
        </p:blipFill>
        <p:spPr>
          <a:xfrm xmlns:a="http://schemas.openxmlformats.org/drawingml/2006/main">
            <a:off x="966634" y="1695450"/>
            <a:ext cx="4562782" cy="314325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73E5AA1E-4BF0-4935-A7A9-357A0D037679}"/>
              </a:ext>
            </a:extLst>
          </p:cNvPr>
          <p:cNvSpPr>
            <a:spLocks xmlns:a="http://schemas.openxmlformats.org/drawingml/2006/main" noGrp="1"/>
          </p:cNvSpPr>
          <p:nvPr/>
        </p:nvSpPr>
        <p:spPr>
          <a:xfrm xmlns:a="http://schemas.openxmlformats.org/drawingml/2006/main">
            <a:off x="723900" y="5019675"/>
            <a:ext cx="5143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Algonquin-area source cover pixels · 2021</a:t>
            </a:r>
          </a:p>
        </p:txBody>
      </p:sp>
      <p:sp>
        <p:nvSpPr>
          <p:cNvPr id="4" name="">
            <a:extLst xmlns:a="http://schemas.openxmlformats.org/drawingml/2006/main">
              <a:ext uri="{FF2B5EF4-FFF2-40B4-BE49-F238E27FC236}">
                <a16:creationId xmlns:a16="http://schemas.microsoft.com/office/drawing/2014/main" id="{2E021E6C-274F-44CC-AAFC-8721A30E55EE}"/>
              </a:ext>
            </a:extLst>
          </p:cNvPr>
          <p:cNvSpPr>
            <a:spLocks xmlns:a="http://schemas.openxmlformats.org/drawingml/2006/main" noGrp="1"/>
          </p:cNvSpPr>
          <p:nvPr/>
        </p:nvSpPr>
        <p:spPr>
          <a:xfrm xmlns:a="http://schemas.openxmlformats.org/drawingml/2006/main">
            <a:off x="6381750" y="1724025"/>
            <a:ext cx="5048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NRCan · NFDB</a:t>
            </a:r>
          </a:p>
        </p:txBody>
      </p:sp>
      <p:sp>
        <p:nvSpPr>
          <p:cNvPr id="5" name="">
            <a:extLst xmlns:a="http://schemas.openxmlformats.org/drawingml/2006/main">
              <a:ext uri="{FF2B5EF4-FFF2-40B4-BE49-F238E27FC236}">
                <a16:creationId xmlns:a16="http://schemas.microsoft.com/office/drawing/2014/main" id="{FB3116EF-8555-428D-96A7-54CF4AF67589}"/>
              </a:ext>
            </a:extLst>
          </p:cNvPr>
          <p:cNvSpPr>
            <a:spLocks xmlns:a="http://schemas.openxmlformats.org/drawingml/2006/main" noGrp="1"/>
          </p:cNvSpPr>
          <p:nvPr/>
        </p:nvSpPr>
        <p:spPr>
          <a:xfrm xmlns:a="http://schemas.openxmlformats.org/drawingml/2006/main">
            <a:off x="6381750" y="2152650"/>
            <a:ext cx="50863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7343A"/>
                </a:solidFill>
                <a:latin typeface="Arial"/>
                <a:ea typeface="Arial"/>
                <a:cs typeface="Arial"/>
              </a:defRPr>
            </a:pPr>
            <a:r>
              <a:rPr sz="2250" b="0">
                <a:solidFill>
                  <a:srgbClr val="17343A"/>
                </a:solidFill>
                <a:latin typeface="Arial"/>
                <a:ea typeface="Arial"/>
                <a:cs typeface="Arial"/>
              </a:rPr>
              <a:t>784,447 ha ÷ 1,194 fires</a:t>
            </a:r>
          </a:p>
        </p:txBody>
      </p:sp>
      <p:sp>
        <p:nvSpPr>
          <p:cNvPr id="6" name="">
            <a:extLst xmlns:a="http://schemas.openxmlformats.org/drawingml/2006/main">
              <a:ext uri="{FF2B5EF4-FFF2-40B4-BE49-F238E27FC236}">
                <a16:creationId xmlns:a16="http://schemas.microsoft.com/office/drawing/2014/main" id="{21BCDDA7-0236-4B9D-A71A-DBCC7D3B3CFE}"/>
              </a:ext>
            </a:extLst>
          </p:cNvPr>
          <p:cNvSpPr>
            <a:spLocks xmlns:a="http://schemas.openxmlformats.org/drawingml/2006/main" noGrp="1"/>
          </p:cNvSpPr>
          <p:nvPr/>
        </p:nvSpPr>
        <p:spPr>
          <a:xfrm xmlns:a="http://schemas.openxmlformats.org/drawingml/2006/main">
            <a:off x="6381750" y="2657475"/>
            <a:ext cx="50863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75" b="0">
                <a:solidFill>
                  <a:srgbClr val="18747C"/>
                </a:solidFill>
                <a:latin typeface="Arial"/>
                <a:ea typeface="Arial"/>
                <a:cs typeface="Arial"/>
              </a:defRPr>
            </a:pPr>
            <a:r>
              <a:rPr sz="3675" b="0">
                <a:solidFill>
                  <a:srgbClr val="18747C"/>
                </a:solidFill>
                <a:latin typeface="Arial"/>
                <a:ea typeface="Arial"/>
                <a:cs typeface="Arial"/>
              </a:rPr>
              <a:t>657 ha/fire</a:t>
            </a:r>
          </a:p>
        </p:txBody>
      </p:sp>
      <p:sp>
        <p:nvSpPr>
          <p:cNvPr id="7" name="">
            <a:extLst xmlns:a="http://schemas.openxmlformats.org/drawingml/2006/main">
              <a:ext uri="{FF2B5EF4-FFF2-40B4-BE49-F238E27FC236}">
                <a16:creationId xmlns:a16="http://schemas.microsoft.com/office/drawing/2014/main" id="{A70FFD10-B6A4-4473-95AC-D6B63DC79778}"/>
              </a:ext>
            </a:extLst>
          </p:cNvPr>
          <p:cNvSpPr>
            <a:spLocks xmlns:a="http://schemas.openxmlformats.org/drawingml/2006/main" noGrp="1"/>
          </p:cNvSpPr>
          <p:nvPr/>
        </p:nvSpPr>
        <p:spPr>
          <a:xfrm xmlns:a="http://schemas.openxmlformats.org/drawingml/2006/main">
            <a:off x="6381750" y="3562350"/>
            <a:ext cx="50863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6777A"/>
                </a:solidFill>
                <a:latin typeface="Arial"/>
                <a:ea typeface="Arial"/>
                <a:cs typeface="Arial"/>
              </a:defRPr>
            </a:pPr>
            <a:r>
              <a:rPr sz="1725" b="0">
                <a:solidFill>
                  <a:srgbClr val="66777A"/>
                </a:solidFill>
                <a:latin typeface="Arial"/>
                <a:ea typeface="Arial"/>
                <a:cs typeface="Arial"/>
              </a:rPr>
              <a:t>ECCC · Monthly Climate Summaries</a:t>
            </a:r>
          </a:p>
        </p:txBody>
      </p:sp>
      <p:sp>
        <p:nvSpPr>
          <p:cNvPr id="8" name="">
            <a:extLst xmlns:a="http://schemas.openxmlformats.org/drawingml/2006/main">
              <a:ext uri="{FF2B5EF4-FFF2-40B4-BE49-F238E27FC236}">
                <a16:creationId xmlns:a16="http://schemas.microsoft.com/office/drawing/2014/main" id="{B214FE86-A778-4B2A-A134-54112B5A227F}"/>
              </a:ext>
            </a:extLst>
          </p:cNvPr>
          <p:cNvSpPr>
            <a:spLocks xmlns:a="http://schemas.openxmlformats.org/drawingml/2006/main" noGrp="1"/>
          </p:cNvSpPr>
          <p:nvPr/>
        </p:nvSpPr>
        <p:spPr>
          <a:xfrm xmlns:a="http://schemas.openxmlformats.org/drawingml/2006/main">
            <a:off x="6381750" y="4067175"/>
            <a:ext cx="50863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3A"/>
                </a:solidFill>
                <a:latin typeface="Arial"/>
                <a:ea typeface="Arial"/>
                <a:cs typeface="Arial"/>
              </a:defRPr>
            </a:pPr>
            <a:r>
              <a:rPr sz="1950" b="0">
                <a:solidFill>
                  <a:srgbClr val="17343A"/>
                </a:solidFill>
                <a:latin typeface="Arial"/>
                <a:ea typeface="Arial"/>
                <a:cs typeface="Arial"/>
              </a:rPr>
              <a:t>Ten annual / seasonal climate inputs</a:t>
            </a:r>
          </a:p>
        </p:txBody>
      </p:sp>
      <p:sp>
        <p:nvSpPr>
          <p:cNvPr id="9" name="">
            <a:extLst xmlns:a="http://schemas.openxmlformats.org/drawingml/2006/main">
              <a:ext uri="{FF2B5EF4-FFF2-40B4-BE49-F238E27FC236}">
                <a16:creationId xmlns:a16="http://schemas.microsoft.com/office/drawing/2014/main" id="{D56E8E34-A538-48A4-B7E6-ECCD2C4C0DBC}"/>
              </a:ext>
            </a:extLst>
          </p:cNvPr>
          <p:cNvSpPr>
            <a:spLocks xmlns:a="http://schemas.openxmlformats.org/drawingml/2006/main" noGrp="1"/>
          </p:cNvSpPr>
          <p:nvPr/>
        </p:nvSpPr>
        <p:spPr>
          <a:xfrm xmlns:a="http://schemas.openxmlformats.org/drawingml/2006/main">
            <a:off x="6381750" y="4667250"/>
            <a:ext cx="50863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747C"/>
                </a:solidFill>
                <a:latin typeface="Arial"/>
                <a:ea typeface="Arial"/>
                <a:cs typeface="Arial"/>
              </a:defRPr>
            </a:pPr>
            <a:r>
              <a:rPr sz="1875" b="0">
                <a:solidFill>
                  <a:srgbClr val="18747C"/>
                </a:solidFill>
                <a:latin typeface="Arial"/>
                <a:ea typeface="Arial"/>
                <a:cs typeface="Arial"/>
              </a:rPr>
              <a:t>Join by year → one observation</a:t>
            </a:r>
          </a:p>
        </p:txBody>
      </p:sp>
      <p:sp>
        <p:nvSpPr>
          <p:cNvPr id="10" name="">
            <a:extLst xmlns:a="http://schemas.openxmlformats.org/drawingml/2006/main">
              <a:ext uri="{FF2B5EF4-FFF2-40B4-BE49-F238E27FC236}">
                <a16:creationId xmlns:a16="http://schemas.microsoft.com/office/drawing/2014/main" id="{CB1BDC57-FE0A-4C0B-88F4-98A7D3030324}"/>
              </a:ext>
            </a:extLst>
          </p:cNvPr>
          <p:cNvSpPr>
            <a:spLocks xmlns:a="http://schemas.openxmlformats.org/drawingml/2006/main" noGrp="1"/>
          </p:cNvSpPr>
          <p:nvPr/>
        </p:nvSpPr>
        <p:spPr>
          <a:xfrm xmlns:a="http://schemas.openxmlformats.org/drawingml/2006/main">
            <a:off x="723900" y="5543550"/>
            <a:ext cx="57150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43A"/>
                </a:solidFill>
                <a:latin typeface="Arial"/>
                <a:ea typeface="Arial"/>
                <a:cs typeface="Arial"/>
              </a:defRPr>
            </a:pPr>
            <a:r>
              <a:rPr sz="1800" b="0">
                <a:solidFill>
                  <a:srgbClr val="17343A"/>
                </a:solidFill>
                <a:latin typeface="Arial"/>
                <a:ea typeface="Arial"/>
                <a:cs typeface="Arial"/>
              </a:rPr>
              <a:t>31 training years · 1988–2018</a:t>
            </a:r>
          </a:p>
        </p:txBody>
      </p:sp>
      <p:sp>
        <p:nvSpPr>
          <p:cNvPr id="11" name="">
            <a:extLst xmlns:a="http://schemas.openxmlformats.org/drawingml/2006/main">
              <a:ext uri="{FF2B5EF4-FFF2-40B4-BE49-F238E27FC236}">
                <a16:creationId xmlns:a16="http://schemas.microsoft.com/office/drawing/2014/main" id="{90FF5E2F-9E0F-4462-9D82-5EDFA817DD8B}"/>
              </a:ext>
            </a:extLst>
          </p:cNvPr>
          <p:cNvSpPr>
            <a:spLocks xmlns:a="http://schemas.openxmlformats.org/drawingml/2006/main" noGrp="1"/>
          </p:cNvSpPr>
          <p:nvPr/>
        </p:nvSpPr>
        <p:spPr>
          <a:xfrm xmlns:a="http://schemas.openxmlformats.org/drawingml/2006/main">
            <a:off x="7048500" y="5543550"/>
            <a:ext cx="4476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7343A"/>
                </a:solidFill>
                <a:latin typeface="Arial"/>
                <a:ea typeface="Arial"/>
                <a:cs typeface="Arial"/>
              </a:defRPr>
            </a:pPr>
            <a:r>
              <a:rPr sz="1800" b="0">
                <a:solidFill>
                  <a:srgbClr val="17343A"/>
                </a:solidFill>
                <a:latin typeface="Arial"/>
                <a:ea typeface="Arial"/>
                <a:cs typeface="Arial"/>
              </a:rPr>
              <a:t>6 reused years · 2019–2024</a:t>
            </a:r>
          </a:p>
        </p:txBody>
      </p:sp>
      <p:sp>
        <p:nvSpPr>
          <p:cNvPr id="12" name="">
            <a:extLst xmlns:a="http://schemas.openxmlformats.org/drawingml/2006/main">
              <a:ext uri="{FF2B5EF4-FFF2-40B4-BE49-F238E27FC236}">
                <a16:creationId xmlns:a16="http://schemas.microsoft.com/office/drawing/2014/main" id="{CE1C771E-38FB-4E44-9F46-E516A77C97CC}"/>
              </a:ext>
            </a:extLst>
          </p:cNvPr>
          <p:cNvSpPr>
            <a:spLocks xmlns:a="http://schemas.openxmlformats.org/drawingml/2006/main" noGrp="1"/>
          </p:cNvSpPr>
          <p:nvPr/>
        </p:nvSpPr>
        <p:spPr>
          <a:xfrm xmlns:a="http://schemas.openxmlformats.org/drawingml/2006/main">
            <a:off x="723900" y="600075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Woodland = context / separate ablation. Final predictors use climate.</a:t>
            </a:r>
          </a:p>
        </p:txBody>
      </p:sp>
    </p:spTree>
    <p:extLst>
      <p:ext uri="{BB962C8B-B14F-4D97-AF65-F5344CB8AC3E}">
        <p14:creationId xmlns:p14="http://schemas.microsoft.com/office/powerpoint/2010/main" val="149527247"/>
      </p:ext>
    </p:extLst>
  </p:cSld>
</p:sld>
</file>

<file path=ppt/slides/slide3.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E230F2C-339B-4089-A475-7EFA388DA118}"/>
              </a:ext>
            </a:extLst>
          </p:cNvPr>
          <p:cNvSpPr>
            <a:spLocks xmlns:a="http://schemas.openxmlformats.org/drawingml/2006/main" noGrp="1"/>
          </p:cNvSpPr>
          <p:nvPr/>
        </p:nvSpPr>
        <p:spPr>
          <a:xfrm xmlns:a="http://schemas.openxmlformats.org/drawingml/2006/main">
            <a:off x="723900" y="5905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343A"/>
                </a:solidFill>
                <a:latin typeface="Arial"/>
                <a:ea typeface="Arial"/>
                <a:cs typeface="Arial"/>
              </a:defRPr>
            </a:pPr>
            <a:r>
              <a:rPr sz="3450" b="0">
                <a:solidFill>
                  <a:srgbClr val="17343A"/>
                </a:solidFill>
                <a:latin typeface="Arial"/>
                <a:ea typeface="Arial"/>
                <a:cs typeface="Arial"/>
              </a:rPr>
              <a:t>Choose four. Compare fairly.</a:t>
            </a:r>
          </a:p>
        </p:txBody>
      </p:sp>
      <p:sp>
        <p:nvSpPr>
          <p:cNvPr id="2" name="">
            <a:extLst xmlns:a="http://schemas.openxmlformats.org/drawingml/2006/main">
              <a:ext uri="{FF2B5EF4-FFF2-40B4-BE49-F238E27FC236}">
                <a16:creationId xmlns:a16="http://schemas.microsoft.com/office/drawing/2014/main" id="{3EB6A97E-4B51-4C10-A935-8725545DCE36}"/>
              </a:ext>
            </a:extLst>
          </p:cNvPr>
          <p:cNvSpPr>
            <a:spLocks xmlns:a="http://schemas.openxmlformats.org/drawingml/2006/main" noGrp="1"/>
          </p:cNvSpPr>
          <p:nvPr/>
        </p:nvSpPr>
        <p:spPr>
          <a:xfrm xmlns:a="http://schemas.openxmlformats.org/drawingml/2006/main">
            <a:off x="723900" y="1962150"/>
            <a:ext cx="4857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777A"/>
                </a:solidFill>
                <a:latin typeface="Arial"/>
                <a:ea typeface="Arial"/>
                <a:cs typeface="Arial"/>
              </a:defRPr>
            </a:pPr>
            <a:r>
              <a:rPr sz="1650" b="0">
                <a:solidFill>
                  <a:srgbClr val="66777A"/>
                </a:solidFill>
                <a:latin typeface="Arial"/>
                <a:ea typeface="Arial"/>
                <a:cs typeface="Arial"/>
              </a:rPr>
              <a:t>Ten candidate climate features</a:t>
            </a:r>
          </a:p>
        </p:txBody>
      </p:sp>
      <p:sp>
        <p:nvSpPr>
          <p:cNvPr id="3" name="">
            <a:extLst xmlns:a="http://schemas.openxmlformats.org/drawingml/2006/main">
              <a:ext uri="{FF2B5EF4-FFF2-40B4-BE49-F238E27FC236}">
                <a16:creationId xmlns:a16="http://schemas.microsoft.com/office/drawing/2014/main" id="{B9B499B9-1FA6-4324-9CC4-F3C1C231E312}"/>
              </a:ext>
            </a:extLst>
          </p:cNvPr>
          <p:cNvSpPr>
            <a:spLocks xmlns:a="http://schemas.openxmlformats.org/drawingml/2006/main" noGrp="1"/>
          </p:cNvSpPr>
          <p:nvPr/>
        </p:nvSpPr>
        <p:spPr>
          <a:xfrm xmlns:a="http://schemas.openxmlformats.org/drawingml/2006/main">
            <a:off x="723900" y="2571750"/>
            <a:ext cx="381000" cy="381000"/>
          </a:xfrm>
          <a:prstGeom xmlns:a="http://schemas.openxmlformats.org/drawingml/2006/main" prst="ellipse">
            <a:avLst/>
          </a:prstGeom>
          <a:solidFill xmlns:a="http://schemas.openxmlformats.org/drawingml/2006/main">
            <a:srgbClr val="18747C"/>
          </a:solidFill>
          <a:ln xmlns:a="http://schemas.openxmlformats.org/drawingml/2006/main" w="9525">
            <a:solidFill>
              <a:srgbClr val="18747C"/>
            </a:solidFill>
          </a:ln>
        </p:spPr>
      </p:sp>
      <p:sp>
        <p:nvSpPr>
          <p:cNvPr id="4" name="">
            <a:extLst xmlns:a="http://schemas.openxmlformats.org/drawingml/2006/main">
              <a:ext uri="{FF2B5EF4-FFF2-40B4-BE49-F238E27FC236}">
                <a16:creationId xmlns:a16="http://schemas.microsoft.com/office/drawing/2014/main" id="{EF9C3DC7-A558-446A-8A60-CD15840F1111}"/>
              </a:ext>
            </a:extLst>
          </p:cNvPr>
          <p:cNvSpPr>
            <a:spLocks xmlns:a="http://schemas.openxmlformats.org/drawingml/2006/main" noGrp="1"/>
          </p:cNvSpPr>
          <p:nvPr/>
        </p:nvSpPr>
        <p:spPr>
          <a:xfrm xmlns:a="http://schemas.openxmlformats.org/drawingml/2006/main">
            <a:off x="828675" y="2647950"/>
            <a:ext cx="228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1</a:t>
            </a:r>
          </a:p>
        </p:txBody>
      </p:sp>
      <p:sp>
        <p:nvSpPr>
          <p:cNvPr id="5" name="">
            <a:extLst xmlns:a="http://schemas.openxmlformats.org/drawingml/2006/main">
              <a:ext uri="{FF2B5EF4-FFF2-40B4-BE49-F238E27FC236}">
                <a16:creationId xmlns:a16="http://schemas.microsoft.com/office/drawing/2014/main" id="{CA22BFB6-302B-498B-8555-0056353AD2ED}"/>
              </a:ext>
            </a:extLst>
          </p:cNvPr>
          <p:cNvSpPr>
            <a:spLocks xmlns:a="http://schemas.openxmlformats.org/drawingml/2006/main" noGrp="1"/>
          </p:cNvSpPr>
          <p:nvPr/>
        </p:nvSpPr>
        <p:spPr>
          <a:xfrm xmlns:a="http://schemas.openxmlformats.org/drawingml/2006/main">
            <a:off x="1209675" y="2571750"/>
            <a:ext cx="381000" cy="381000"/>
          </a:xfrm>
          <a:prstGeom xmlns:a="http://schemas.openxmlformats.org/drawingml/2006/main" prst="ellipse">
            <a:avLst/>
          </a:prstGeom>
          <a:noFill xmlns:a="http://schemas.openxmlformats.org/drawingml/2006/main"/>
          <a:ln xmlns:a="http://schemas.openxmlformats.org/drawingml/2006/main" w="9525">
            <a:solidFill>
              <a:srgbClr val="B8C7BE"/>
            </a:solidFill>
          </a:ln>
        </p:spPr>
      </p:sp>
      <p:sp>
        <p:nvSpPr>
          <p:cNvPr id="6" name="">
            <a:extLst xmlns:a="http://schemas.openxmlformats.org/drawingml/2006/main">
              <a:ext uri="{FF2B5EF4-FFF2-40B4-BE49-F238E27FC236}">
                <a16:creationId xmlns:a16="http://schemas.microsoft.com/office/drawing/2014/main" id="{472041C5-D12D-424F-9814-BA08D7EDE165}"/>
              </a:ext>
            </a:extLst>
          </p:cNvPr>
          <p:cNvSpPr>
            <a:spLocks xmlns:a="http://schemas.openxmlformats.org/drawingml/2006/main" noGrp="1"/>
          </p:cNvSpPr>
          <p:nvPr/>
        </p:nvSpPr>
        <p:spPr>
          <a:xfrm xmlns:a="http://schemas.openxmlformats.org/drawingml/2006/main">
            <a:off x="1314450" y="2647950"/>
            <a:ext cx="228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777A"/>
                </a:solidFill>
                <a:latin typeface="Arial"/>
                <a:ea typeface="Arial"/>
                <a:cs typeface="Arial"/>
              </a:defRPr>
            </a:pPr>
            <a:r>
              <a:rPr sz="1575" b="0">
                <a:solidFill>
                  <a:srgbClr val="66777A"/>
                </a:solidFill>
                <a:latin typeface="Arial"/>
                <a:ea typeface="Arial"/>
                <a:cs typeface="Arial"/>
              </a:rPr>
              <a:t>0</a:t>
            </a:r>
          </a:p>
        </p:txBody>
      </p:sp>
      <p:sp>
        <p:nvSpPr>
          <p:cNvPr id="7" name="">
            <a:extLst xmlns:a="http://schemas.openxmlformats.org/drawingml/2006/main">
              <a:ext uri="{FF2B5EF4-FFF2-40B4-BE49-F238E27FC236}">
                <a16:creationId xmlns:a16="http://schemas.microsoft.com/office/drawing/2014/main" id="{7F22E74B-92FE-4778-B4F9-DC8415A3988C}"/>
              </a:ext>
            </a:extLst>
          </p:cNvPr>
          <p:cNvSpPr>
            <a:spLocks xmlns:a="http://schemas.openxmlformats.org/drawingml/2006/main" noGrp="1"/>
          </p:cNvSpPr>
          <p:nvPr/>
        </p:nvSpPr>
        <p:spPr>
          <a:xfrm xmlns:a="http://schemas.openxmlformats.org/drawingml/2006/main">
            <a:off x="1695450" y="2571750"/>
            <a:ext cx="381000" cy="381000"/>
          </a:xfrm>
          <a:prstGeom xmlns:a="http://schemas.openxmlformats.org/drawingml/2006/main" prst="ellipse">
            <a:avLst/>
          </a:prstGeom>
          <a:solidFill xmlns:a="http://schemas.openxmlformats.org/drawingml/2006/main">
            <a:srgbClr val="18747C"/>
          </a:solidFill>
          <a:ln xmlns:a="http://schemas.openxmlformats.org/drawingml/2006/main" w="9525">
            <a:solidFill>
              <a:srgbClr val="18747C"/>
            </a:solidFill>
          </a:ln>
        </p:spPr>
      </p:sp>
      <p:sp>
        <p:nvSpPr>
          <p:cNvPr id="8" name="">
            <a:extLst xmlns:a="http://schemas.openxmlformats.org/drawingml/2006/main">
              <a:ext uri="{FF2B5EF4-FFF2-40B4-BE49-F238E27FC236}">
                <a16:creationId xmlns:a16="http://schemas.microsoft.com/office/drawing/2014/main" id="{2FF2158A-8809-499F-9C80-7610862E059B}"/>
              </a:ext>
            </a:extLst>
          </p:cNvPr>
          <p:cNvSpPr>
            <a:spLocks xmlns:a="http://schemas.openxmlformats.org/drawingml/2006/main" noGrp="1"/>
          </p:cNvSpPr>
          <p:nvPr/>
        </p:nvSpPr>
        <p:spPr>
          <a:xfrm xmlns:a="http://schemas.openxmlformats.org/drawingml/2006/main">
            <a:off x="1800225" y="2647950"/>
            <a:ext cx="228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1</a:t>
            </a:r>
          </a:p>
        </p:txBody>
      </p:sp>
      <p:sp>
        <p:nvSpPr>
          <p:cNvPr id="9" name="">
            <a:extLst xmlns:a="http://schemas.openxmlformats.org/drawingml/2006/main">
              <a:ext uri="{FF2B5EF4-FFF2-40B4-BE49-F238E27FC236}">
                <a16:creationId xmlns:a16="http://schemas.microsoft.com/office/drawing/2014/main" id="{01ABED6A-343B-4CFA-A146-72412E9D2335}"/>
              </a:ext>
            </a:extLst>
          </p:cNvPr>
          <p:cNvSpPr>
            <a:spLocks xmlns:a="http://schemas.openxmlformats.org/drawingml/2006/main" noGrp="1"/>
          </p:cNvSpPr>
          <p:nvPr/>
        </p:nvSpPr>
        <p:spPr>
          <a:xfrm xmlns:a="http://schemas.openxmlformats.org/drawingml/2006/main">
            <a:off x="2181225" y="2571750"/>
            <a:ext cx="381000" cy="381000"/>
          </a:xfrm>
          <a:prstGeom xmlns:a="http://schemas.openxmlformats.org/drawingml/2006/main" prst="ellipse">
            <a:avLst/>
          </a:prstGeom>
          <a:noFill xmlns:a="http://schemas.openxmlformats.org/drawingml/2006/main"/>
          <a:ln xmlns:a="http://schemas.openxmlformats.org/drawingml/2006/main" w="9525">
            <a:solidFill>
              <a:srgbClr val="B8C7BE"/>
            </a:solidFill>
          </a:ln>
        </p:spPr>
      </p:sp>
      <p:sp>
        <p:nvSpPr>
          <p:cNvPr id="10" name="">
            <a:extLst xmlns:a="http://schemas.openxmlformats.org/drawingml/2006/main">
              <a:ext uri="{FF2B5EF4-FFF2-40B4-BE49-F238E27FC236}">
                <a16:creationId xmlns:a16="http://schemas.microsoft.com/office/drawing/2014/main" id="{F00698B8-81C2-4074-BA81-9B046324693B}"/>
              </a:ext>
            </a:extLst>
          </p:cNvPr>
          <p:cNvSpPr>
            <a:spLocks xmlns:a="http://schemas.openxmlformats.org/drawingml/2006/main" noGrp="1"/>
          </p:cNvSpPr>
          <p:nvPr/>
        </p:nvSpPr>
        <p:spPr>
          <a:xfrm xmlns:a="http://schemas.openxmlformats.org/drawingml/2006/main">
            <a:off x="2286000" y="2647950"/>
            <a:ext cx="228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777A"/>
                </a:solidFill>
                <a:latin typeface="Arial"/>
                <a:ea typeface="Arial"/>
                <a:cs typeface="Arial"/>
              </a:defRPr>
            </a:pPr>
            <a:r>
              <a:rPr sz="1575" b="0">
                <a:solidFill>
                  <a:srgbClr val="66777A"/>
                </a:solidFill>
                <a:latin typeface="Arial"/>
                <a:ea typeface="Arial"/>
                <a:cs typeface="Arial"/>
              </a:rPr>
              <a:t>0</a:t>
            </a:r>
          </a:p>
        </p:txBody>
      </p:sp>
      <p:sp>
        <p:nvSpPr>
          <p:cNvPr id="11" name="">
            <a:extLst xmlns:a="http://schemas.openxmlformats.org/drawingml/2006/main">
              <a:ext uri="{FF2B5EF4-FFF2-40B4-BE49-F238E27FC236}">
                <a16:creationId xmlns:a16="http://schemas.microsoft.com/office/drawing/2014/main" id="{ED486E5B-2BEB-48E0-875B-A5E38691C3DE}"/>
              </a:ext>
            </a:extLst>
          </p:cNvPr>
          <p:cNvSpPr>
            <a:spLocks xmlns:a="http://schemas.openxmlformats.org/drawingml/2006/main" noGrp="1"/>
          </p:cNvSpPr>
          <p:nvPr/>
        </p:nvSpPr>
        <p:spPr>
          <a:xfrm xmlns:a="http://schemas.openxmlformats.org/drawingml/2006/main">
            <a:off x="2667000" y="2571750"/>
            <a:ext cx="381000" cy="381000"/>
          </a:xfrm>
          <a:prstGeom xmlns:a="http://schemas.openxmlformats.org/drawingml/2006/main" prst="ellipse">
            <a:avLst/>
          </a:prstGeom>
          <a:noFill xmlns:a="http://schemas.openxmlformats.org/drawingml/2006/main"/>
          <a:ln xmlns:a="http://schemas.openxmlformats.org/drawingml/2006/main" w="9525">
            <a:solidFill>
              <a:srgbClr val="B8C7BE"/>
            </a:solidFill>
          </a:ln>
        </p:spPr>
      </p:sp>
      <p:sp>
        <p:nvSpPr>
          <p:cNvPr id="12" name="">
            <a:extLst xmlns:a="http://schemas.openxmlformats.org/drawingml/2006/main">
              <a:ext uri="{FF2B5EF4-FFF2-40B4-BE49-F238E27FC236}">
                <a16:creationId xmlns:a16="http://schemas.microsoft.com/office/drawing/2014/main" id="{F6FB3E64-310F-4E1C-B897-FCA7EC359F2A}"/>
              </a:ext>
            </a:extLst>
          </p:cNvPr>
          <p:cNvSpPr>
            <a:spLocks xmlns:a="http://schemas.openxmlformats.org/drawingml/2006/main" noGrp="1"/>
          </p:cNvSpPr>
          <p:nvPr/>
        </p:nvSpPr>
        <p:spPr>
          <a:xfrm xmlns:a="http://schemas.openxmlformats.org/drawingml/2006/main">
            <a:off x="2771775" y="2647950"/>
            <a:ext cx="228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777A"/>
                </a:solidFill>
                <a:latin typeface="Arial"/>
                <a:ea typeface="Arial"/>
                <a:cs typeface="Arial"/>
              </a:defRPr>
            </a:pPr>
            <a:r>
              <a:rPr sz="1575" b="0">
                <a:solidFill>
                  <a:srgbClr val="66777A"/>
                </a:solidFill>
                <a:latin typeface="Arial"/>
                <a:ea typeface="Arial"/>
                <a:cs typeface="Arial"/>
              </a:rPr>
              <a:t>0</a:t>
            </a:r>
          </a:p>
        </p:txBody>
      </p:sp>
      <p:sp>
        <p:nvSpPr>
          <p:cNvPr id="13" name="">
            <a:extLst xmlns:a="http://schemas.openxmlformats.org/drawingml/2006/main">
              <a:ext uri="{FF2B5EF4-FFF2-40B4-BE49-F238E27FC236}">
                <a16:creationId xmlns:a16="http://schemas.microsoft.com/office/drawing/2014/main" id="{D901447F-DB3E-4DA7-B00F-5ED2B4211882}"/>
              </a:ext>
            </a:extLst>
          </p:cNvPr>
          <p:cNvSpPr>
            <a:spLocks xmlns:a="http://schemas.openxmlformats.org/drawingml/2006/main" noGrp="1"/>
          </p:cNvSpPr>
          <p:nvPr/>
        </p:nvSpPr>
        <p:spPr>
          <a:xfrm xmlns:a="http://schemas.openxmlformats.org/drawingml/2006/main">
            <a:off x="3152775" y="2571750"/>
            <a:ext cx="381000" cy="381000"/>
          </a:xfrm>
          <a:prstGeom xmlns:a="http://schemas.openxmlformats.org/drawingml/2006/main" prst="ellipse">
            <a:avLst/>
          </a:prstGeom>
          <a:solidFill xmlns:a="http://schemas.openxmlformats.org/drawingml/2006/main">
            <a:srgbClr val="18747C"/>
          </a:solidFill>
          <a:ln xmlns:a="http://schemas.openxmlformats.org/drawingml/2006/main" w="9525">
            <a:solidFill>
              <a:srgbClr val="18747C"/>
            </a:solidFill>
          </a:ln>
        </p:spPr>
      </p:sp>
      <p:sp>
        <p:nvSpPr>
          <p:cNvPr id="14" name="">
            <a:extLst xmlns:a="http://schemas.openxmlformats.org/drawingml/2006/main">
              <a:ext uri="{FF2B5EF4-FFF2-40B4-BE49-F238E27FC236}">
                <a16:creationId xmlns:a16="http://schemas.microsoft.com/office/drawing/2014/main" id="{A45A9457-EBD6-41B1-A500-672760FB0CC9}"/>
              </a:ext>
            </a:extLst>
          </p:cNvPr>
          <p:cNvSpPr>
            <a:spLocks xmlns:a="http://schemas.openxmlformats.org/drawingml/2006/main" noGrp="1"/>
          </p:cNvSpPr>
          <p:nvPr/>
        </p:nvSpPr>
        <p:spPr>
          <a:xfrm xmlns:a="http://schemas.openxmlformats.org/drawingml/2006/main">
            <a:off x="3257550" y="2647950"/>
            <a:ext cx="228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1</a:t>
            </a:r>
          </a:p>
        </p:txBody>
      </p:sp>
      <p:sp>
        <p:nvSpPr>
          <p:cNvPr id="15" name="">
            <a:extLst xmlns:a="http://schemas.openxmlformats.org/drawingml/2006/main">
              <a:ext uri="{FF2B5EF4-FFF2-40B4-BE49-F238E27FC236}">
                <a16:creationId xmlns:a16="http://schemas.microsoft.com/office/drawing/2014/main" id="{2DBA23F7-A7F3-4F4A-9428-92A9DF91D3C8}"/>
              </a:ext>
            </a:extLst>
          </p:cNvPr>
          <p:cNvSpPr>
            <a:spLocks xmlns:a="http://schemas.openxmlformats.org/drawingml/2006/main" noGrp="1"/>
          </p:cNvSpPr>
          <p:nvPr/>
        </p:nvSpPr>
        <p:spPr>
          <a:xfrm xmlns:a="http://schemas.openxmlformats.org/drawingml/2006/main">
            <a:off x="3638550" y="2571750"/>
            <a:ext cx="381000" cy="381000"/>
          </a:xfrm>
          <a:prstGeom xmlns:a="http://schemas.openxmlformats.org/drawingml/2006/main" prst="ellipse">
            <a:avLst/>
          </a:prstGeom>
          <a:noFill xmlns:a="http://schemas.openxmlformats.org/drawingml/2006/main"/>
          <a:ln xmlns:a="http://schemas.openxmlformats.org/drawingml/2006/main" w="9525">
            <a:solidFill>
              <a:srgbClr val="B8C7BE"/>
            </a:solidFill>
          </a:ln>
        </p:spPr>
      </p:sp>
      <p:sp>
        <p:nvSpPr>
          <p:cNvPr id="16" name="">
            <a:extLst xmlns:a="http://schemas.openxmlformats.org/drawingml/2006/main">
              <a:ext uri="{FF2B5EF4-FFF2-40B4-BE49-F238E27FC236}">
                <a16:creationId xmlns:a16="http://schemas.microsoft.com/office/drawing/2014/main" id="{B62A66FA-0AC6-4A8E-BD5F-3B02D2EECBD8}"/>
              </a:ext>
            </a:extLst>
          </p:cNvPr>
          <p:cNvSpPr>
            <a:spLocks xmlns:a="http://schemas.openxmlformats.org/drawingml/2006/main" noGrp="1"/>
          </p:cNvSpPr>
          <p:nvPr/>
        </p:nvSpPr>
        <p:spPr>
          <a:xfrm xmlns:a="http://schemas.openxmlformats.org/drawingml/2006/main">
            <a:off x="3743325" y="2647950"/>
            <a:ext cx="228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777A"/>
                </a:solidFill>
                <a:latin typeface="Arial"/>
                <a:ea typeface="Arial"/>
                <a:cs typeface="Arial"/>
              </a:defRPr>
            </a:pPr>
            <a:r>
              <a:rPr sz="1575" b="0">
                <a:solidFill>
                  <a:srgbClr val="66777A"/>
                </a:solidFill>
                <a:latin typeface="Arial"/>
                <a:ea typeface="Arial"/>
                <a:cs typeface="Arial"/>
              </a:rPr>
              <a:t>0</a:t>
            </a:r>
          </a:p>
        </p:txBody>
      </p:sp>
      <p:sp>
        <p:nvSpPr>
          <p:cNvPr id="17" name="">
            <a:extLst xmlns:a="http://schemas.openxmlformats.org/drawingml/2006/main">
              <a:ext uri="{FF2B5EF4-FFF2-40B4-BE49-F238E27FC236}">
                <a16:creationId xmlns:a16="http://schemas.microsoft.com/office/drawing/2014/main" id="{EF2F20A7-35DA-4F11-8EA8-DD3BFA67487E}"/>
              </a:ext>
            </a:extLst>
          </p:cNvPr>
          <p:cNvSpPr>
            <a:spLocks xmlns:a="http://schemas.openxmlformats.org/drawingml/2006/main" noGrp="1"/>
          </p:cNvSpPr>
          <p:nvPr/>
        </p:nvSpPr>
        <p:spPr>
          <a:xfrm xmlns:a="http://schemas.openxmlformats.org/drawingml/2006/main">
            <a:off x="4124325" y="2571750"/>
            <a:ext cx="381000" cy="381000"/>
          </a:xfrm>
          <a:prstGeom xmlns:a="http://schemas.openxmlformats.org/drawingml/2006/main" prst="ellipse">
            <a:avLst/>
          </a:prstGeom>
          <a:solidFill xmlns:a="http://schemas.openxmlformats.org/drawingml/2006/main">
            <a:srgbClr val="18747C"/>
          </a:solidFill>
          <a:ln xmlns:a="http://schemas.openxmlformats.org/drawingml/2006/main" w="9525">
            <a:solidFill>
              <a:srgbClr val="18747C"/>
            </a:solidFill>
          </a:ln>
        </p:spPr>
      </p:sp>
      <p:sp>
        <p:nvSpPr>
          <p:cNvPr id="18" name="">
            <a:extLst xmlns:a="http://schemas.openxmlformats.org/drawingml/2006/main">
              <a:ext uri="{FF2B5EF4-FFF2-40B4-BE49-F238E27FC236}">
                <a16:creationId xmlns:a16="http://schemas.microsoft.com/office/drawing/2014/main" id="{9D4E9572-D808-49C9-BB09-B32B9C055805}"/>
              </a:ext>
            </a:extLst>
          </p:cNvPr>
          <p:cNvSpPr>
            <a:spLocks xmlns:a="http://schemas.openxmlformats.org/drawingml/2006/main" noGrp="1"/>
          </p:cNvSpPr>
          <p:nvPr/>
        </p:nvSpPr>
        <p:spPr>
          <a:xfrm xmlns:a="http://schemas.openxmlformats.org/drawingml/2006/main">
            <a:off x="4229100" y="2647950"/>
            <a:ext cx="228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FFFFFF"/>
                </a:solidFill>
                <a:latin typeface="Arial"/>
                <a:ea typeface="Arial"/>
                <a:cs typeface="Arial"/>
              </a:defRPr>
            </a:pPr>
            <a:r>
              <a:rPr sz="1575" b="0">
                <a:solidFill>
                  <a:srgbClr val="FFFFFF"/>
                </a:solidFill>
                <a:latin typeface="Arial"/>
                <a:ea typeface="Arial"/>
                <a:cs typeface="Arial"/>
              </a:rPr>
              <a:t>1</a:t>
            </a:r>
          </a:p>
        </p:txBody>
      </p:sp>
      <p:sp>
        <p:nvSpPr>
          <p:cNvPr id="19" name="">
            <a:extLst xmlns:a="http://schemas.openxmlformats.org/drawingml/2006/main">
              <a:ext uri="{FF2B5EF4-FFF2-40B4-BE49-F238E27FC236}">
                <a16:creationId xmlns:a16="http://schemas.microsoft.com/office/drawing/2014/main" id="{9BA0B374-3EDF-4F68-A0C7-4EC8FBAE5014}"/>
              </a:ext>
            </a:extLst>
          </p:cNvPr>
          <p:cNvSpPr>
            <a:spLocks xmlns:a="http://schemas.openxmlformats.org/drawingml/2006/main" noGrp="1"/>
          </p:cNvSpPr>
          <p:nvPr/>
        </p:nvSpPr>
        <p:spPr>
          <a:xfrm xmlns:a="http://schemas.openxmlformats.org/drawingml/2006/main">
            <a:off x="4610100" y="2571750"/>
            <a:ext cx="381000" cy="381000"/>
          </a:xfrm>
          <a:prstGeom xmlns:a="http://schemas.openxmlformats.org/drawingml/2006/main" prst="ellipse">
            <a:avLst/>
          </a:prstGeom>
          <a:noFill xmlns:a="http://schemas.openxmlformats.org/drawingml/2006/main"/>
          <a:ln xmlns:a="http://schemas.openxmlformats.org/drawingml/2006/main" w="9525">
            <a:solidFill>
              <a:srgbClr val="B8C7BE"/>
            </a:solidFill>
          </a:ln>
        </p:spPr>
      </p:sp>
      <p:sp>
        <p:nvSpPr>
          <p:cNvPr id="20" name="">
            <a:extLst xmlns:a="http://schemas.openxmlformats.org/drawingml/2006/main">
              <a:ext uri="{FF2B5EF4-FFF2-40B4-BE49-F238E27FC236}">
                <a16:creationId xmlns:a16="http://schemas.microsoft.com/office/drawing/2014/main" id="{0CAE863D-F079-4673-B417-738EC4E86C6D}"/>
              </a:ext>
            </a:extLst>
          </p:cNvPr>
          <p:cNvSpPr>
            <a:spLocks xmlns:a="http://schemas.openxmlformats.org/drawingml/2006/main" noGrp="1"/>
          </p:cNvSpPr>
          <p:nvPr/>
        </p:nvSpPr>
        <p:spPr>
          <a:xfrm xmlns:a="http://schemas.openxmlformats.org/drawingml/2006/main">
            <a:off x="4714875" y="2647950"/>
            <a:ext cx="228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777A"/>
                </a:solidFill>
                <a:latin typeface="Arial"/>
                <a:ea typeface="Arial"/>
                <a:cs typeface="Arial"/>
              </a:defRPr>
            </a:pPr>
            <a:r>
              <a:rPr sz="1575" b="0">
                <a:solidFill>
                  <a:srgbClr val="66777A"/>
                </a:solidFill>
                <a:latin typeface="Arial"/>
                <a:ea typeface="Arial"/>
                <a:cs typeface="Arial"/>
              </a:rPr>
              <a:t>0</a:t>
            </a:r>
          </a:p>
        </p:txBody>
      </p:sp>
      <p:sp>
        <p:nvSpPr>
          <p:cNvPr id="21" name="">
            <a:extLst xmlns:a="http://schemas.openxmlformats.org/drawingml/2006/main">
              <a:ext uri="{FF2B5EF4-FFF2-40B4-BE49-F238E27FC236}">
                <a16:creationId xmlns:a16="http://schemas.microsoft.com/office/drawing/2014/main" id="{AD7F0E2A-477F-4A35-8AC9-7669F5CA2D4D}"/>
              </a:ext>
            </a:extLst>
          </p:cNvPr>
          <p:cNvSpPr>
            <a:spLocks xmlns:a="http://schemas.openxmlformats.org/drawingml/2006/main" noGrp="1"/>
          </p:cNvSpPr>
          <p:nvPr/>
        </p:nvSpPr>
        <p:spPr>
          <a:xfrm xmlns:a="http://schemas.openxmlformats.org/drawingml/2006/main">
            <a:off x="5095875" y="2571750"/>
            <a:ext cx="381000" cy="381000"/>
          </a:xfrm>
          <a:prstGeom xmlns:a="http://schemas.openxmlformats.org/drawingml/2006/main" prst="ellipse">
            <a:avLst/>
          </a:prstGeom>
          <a:noFill xmlns:a="http://schemas.openxmlformats.org/drawingml/2006/main"/>
          <a:ln xmlns:a="http://schemas.openxmlformats.org/drawingml/2006/main" w="9525">
            <a:solidFill>
              <a:srgbClr val="B8C7BE"/>
            </a:solidFill>
          </a:ln>
        </p:spPr>
      </p:sp>
      <p:sp>
        <p:nvSpPr>
          <p:cNvPr id="22" name="">
            <a:extLst xmlns:a="http://schemas.openxmlformats.org/drawingml/2006/main">
              <a:ext uri="{FF2B5EF4-FFF2-40B4-BE49-F238E27FC236}">
                <a16:creationId xmlns:a16="http://schemas.microsoft.com/office/drawing/2014/main" id="{F7656C1A-6D50-4C83-94D5-8EEB383BBB27}"/>
              </a:ext>
            </a:extLst>
          </p:cNvPr>
          <p:cNvSpPr>
            <a:spLocks xmlns:a="http://schemas.openxmlformats.org/drawingml/2006/main" noGrp="1"/>
          </p:cNvSpPr>
          <p:nvPr/>
        </p:nvSpPr>
        <p:spPr>
          <a:xfrm xmlns:a="http://schemas.openxmlformats.org/drawingml/2006/main">
            <a:off x="5200650" y="2647950"/>
            <a:ext cx="228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777A"/>
                </a:solidFill>
                <a:latin typeface="Arial"/>
                <a:ea typeface="Arial"/>
                <a:cs typeface="Arial"/>
              </a:defRPr>
            </a:pPr>
            <a:r>
              <a:rPr sz="1575" b="0">
                <a:solidFill>
                  <a:srgbClr val="66777A"/>
                </a:solidFill>
                <a:latin typeface="Arial"/>
                <a:ea typeface="Arial"/>
                <a:cs typeface="Arial"/>
              </a:rPr>
              <a:t>0</a:t>
            </a:r>
          </a:p>
        </p:txBody>
      </p:sp>
      <p:sp>
        <p:nvSpPr>
          <p:cNvPr id="23" name="">
            <a:extLst xmlns:a="http://schemas.openxmlformats.org/drawingml/2006/main">
              <a:ext uri="{FF2B5EF4-FFF2-40B4-BE49-F238E27FC236}">
                <a16:creationId xmlns:a16="http://schemas.microsoft.com/office/drawing/2014/main" id="{3EB2BF45-0384-4D92-8421-BA7DE693980F}"/>
              </a:ext>
            </a:extLst>
          </p:cNvPr>
          <p:cNvSpPr>
            <a:spLocks xmlns:a="http://schemas.openxmlformats.org/drawingml/2006/main" noGrp="1"/>
          </p:cNvSpPr>
          <p:nvPr/>
        </p:nvSpPr>
        <p:spPr>
          <a:xfrm xmlns:a="http://schemas.openxmlformats.org/drawingml/2006/main">
            <a:off x="723900" y="3533775"/>
            <a:ext cx="49530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7343A"/>
                </a:solidFill>
                <a:latin typeface="Arial"/>
                <a:ea typeface="Arial"/>
                <a:cs typeface="Arial"/>
              </a:defRPr>
            </a:pPr>
            <a:r>
              <a:rPr sz="2325" b="0">
                <a:solidFill>
                  <a:srgbClr val="17343A"/>
                </a:solidFill>
                <a:latin typeface="Arial"/>
                <a:ea typeface="Arial"/>
                <a:cs typeface="Arial"/>
              </a:rPr>
              <a:t>Classical search</a:t>
            </a:r>
          </a:p>
          <a:p xmlns:a="http://schemas.openxmlformats.org/drawingml/2006/main">
            <a:pPr>
              <a:defRPr sz="2325" b="0">
                <a:solidFill>
                  <a:srgbClr val="17343A"/>
                </a:solidFill>
                <a:latin typeface="Arial"/>
                <a:ea typeface="Arial"/>
                <a:cs typeface="Arial"/>
              </a:defRPr>
            </a:pPr>
            <a:r>
              <a:rPr sz="2325" b="0">
                <a:solidFill>
                  <a:srgbClr val="17343A"/>
                </a:solidFill>
                <a:latin typeface="Arial"/>
                <a:ea typeface="Arial"/>
                <a:cs typeface="Arial"/>
              </a:rPr>
              <a:t>QAOA samples → SQD</a:t>
            </a:r>
          </a:p>
        </p:txBody>
      </p:sp>
      <p:sp>
        <p:nvSpPr>
          <p:cNvPr id="24" name="">
            <a:extLst xmlns:a="http://schemas.openxmlformats.org/drawingml/2006/main">
              <a:ext uri="{FF2B5EF4-FFF2-40B4-BE49-F238E27FC236}">
                <a16:creationId xmlns:a16="http://schemas.microsoft.com/office/drawing/2014/main" id="{A4932D21-1901-4C21-B3F1-B873D455A53D}"/>
              </a:ext>
            </a:extLst>
          </p:cNvPr>
          <p:cNvSpPr>
            <a:spLocks xmlns:a="http://schemas.openxmlformats.org/drawingml/2006/main" noGrp="1"/>
          </p:cNvSpPr>
          <p:nvPr/>
        </p:nvSpPr>
        <p:spPr>
          <a:xfrm xmlns:a="http://schemas.openxmlformats.org/drawingml/2006/main">
            <a:off x="723900" y="4838700"/>
            <a:ext cx="4953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66777A"/>
                </a:solidFill>
                <a:latin typeface="Arial"/>
                <a:ea typeface="Arial"/>
                <a:cs typeface="Arial"/>
              </a:defRPr>
            </a:pPr>
            <a:r>
              <a:rPr sz="1725" b="0">
                <a:solidFill>
                  <a:srgbClr val="66777A"/>
                </a:solidFill>
                <a:latin typeface="Arial"/>
                <a:ea typeface="Arial"/>
                <a:cs typeface="Arial"/>
              </a:rPr>
              <a:t>Four-of-ten subset schematic</a:t>
            </a:r>
          </a:p>
          <a:p xmlns:a="http://schemas.openxmlformats.org/drawingml/2006/main">
            <a:pPr>
              <a:defRPr sz="1725" b="0">
                <a:solidFill>
                  <a:srgbClr val="66777A"/>
                </a:solidFill>
                <a:latin typeface="Arial"/>
                <a:ea typeface="Arial"/>
                <a:cs typeface="Arial"/>
              </a:defRPr>
            </a:pPr>
            <a:r>
              <a:rPr sz="1725" b="0">
                <a:solidFill>
                  <a:srgbClr val="66777A"/>
                </a:solidFill>
                <a:latin typeface="Arial"/>
                <a:ea typeface="Arial"/>
                <a:cs typeface="Arial"/>
              </a:rPr>
              <a:t>210 possible subsets</a:t>
            </a:r>
          </a:p>
        </p:txBody>
      </p:sp>
      <p:graphicFrame>
        <p:nvGraphicFramePr>
          <p:cNvPr id="51" name="Chart"/>
          <p:cNvGraphicFramePr/>
          <p:nvPr/>
        </p:nvGraphicFramePr>
        <p:xfrm>
          <a:off xmlns:a="http://schemas.openxmlformats.org/drawingml/2006/main" x="6191250" y="1943100"/>
          <a:ext xmlns:a="http://schemas.openxmlformats.org/drawingml/2006/main" cx="5334000" cy="3495675"/>
        </p:xfrm>
        <a:graphic xmlns:a="http://schemas.openxmlformats.org/drawingml/2006/main">
          <a:graphicData uri="http://schemas.openxmlformats.org/drawingml/2006/chart">
            <c:chart xmlns:r="http://schemas.openxmlformats.org/officeDocument/2006/relationships" xmlns:c="http://schemas.openxmlformats.org/drawingml/2006/chart" r:id="Rf13a29585e55403c"/>
          </a:graphicData>
        </a:graphic>
      </p:graphicFrame>
      <p:sp>
        <p:nvSpPr>
          <p:cNvPr id="26" name="">
            <a:extLst xmlns:a="http://schemas.openxmlformats.org/drawingml/2006/main">
              <a:ext uri="{FF2B5EF4-FFF2-40B4-BE49-F238E27FC236}">
                <a16:creationId xmlns:a16="http://schemas.microsoft.com/office/drawing/2014/main" id="{8C696657-CEC1-42D3-8A8E-FDE514BB806C}"/>
              </a:ext>
            </a:extLst>
          </p:cNvPr>
          <p:cNvSpPr>
            <a:spLocks xmlns:a="http://schemas.openxmlformats.org/drawingml/2006/main" noGrp="1"/>
          </p:cNvSpPr>
          <p:nvPr/>
        </p:nvSpPr>
        <p:spPr>
          <a:xfrm xmlns:a="http://schemas.openxmlformats.org/drawingml/2006/main">
            <a:off x="723900" y="600075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Fixed-ridge MAE · ha/fire · lower is better.</a:t>
            </a:r>
          </a:p>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Diagonal SQD returns the best sampled subset. No quantum advantage.</a:t>
            </a:r>
          </a:p>
        </p:txBody>
      </p:sp>
    </p:spTree>
    <p:extLst>
      <p:ext uri="{BB962C8B-B14F-4D97-AF65-F5344CB8AC3E}">
        <p14:creationId xmlns:p14="http://schemas.microsoft.com/office/powerpoint/2010/main" val="968575370"/>
      </p:ext>
    </p:extLst>
  </p:cSld>
</p:sld>
</file>

<file path=ppt/slides/slide4.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81C7F0A-1EF9-4391-830B-A3305315AA21}"/>
              </a:ext>
            </a:extLst>
          </p:cNvPr>
          <p:cNvSpPr>
            <a:spLocks xmlns:a="http://schemas.openxmlformats.org/drawingml/2006/main" noGrp="1"/>
          </p:cNvSpPr>
          <p:nvPr/>
        </p:nvSpPr>
        <p:spPr>
          <a:xfrm xmlns:a="http://schemas.openxmlformats.org/drawingml/2006/main">
            <a:off x="723900" y="5905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343A"/>
                </a:solidFill>
                <a:latin typeface="Arial"/>
                <a:ea typeface="Arial"/>
                <a:cs typeface="Arial"/>
              </a:defRPr>
            </a:pPr>
            <a:r>
              <a:rPr sz="3450" b="0">
                <a:solidFill>
                  <a:srgbClr val="17343A"/>
                </a:solidFill>
                <a:latin typeface="Arial"/>
                <a:ea typeface="Arial"/>
                <a:cs typeface="Arial"/>
              </a:rPr>
              <a:t>Classical kernels lead.</a:t>
            </a:r>
          </a:p>
        </p:txBody>
      </p:sp>
      <p:sp>
        <p:nvSpPr>
          <p:cNvPr id="2" name="">
            <a:extLst xmlns:a="http://schemas.openxmlformats.org/drawingml/2006/main">
              <a:ext uri="{FF2B5EF4-FFF2-40B4-BE49-F238E27FC236}">
                <a16:creationId xmlns:a16="http://schemas.microsoft.com/office/drawing/2014/main" id="{6409C4CD-8072-4359-A0AD-B49FC5366D32}"/>
              </a:ext>
            </a:extLst>
          </p:cNvPr>
          <p:cNvSpPr>
            <a:spLocks xmlns:a="http://schemas.openxmlformats.org/drawingml/2006/main" noGrp="1"/>
          </p:cNvSpPr>
          <p:nvPr/>
        </p:nvSpPr>
        <p:spPr>
          <a:xfrm xmlns:a="http://schemas.openxmlformats.org/drawingml/2006/main">
            <a:off x="723900" y="1504950"/>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6777A"/>
                </a:solidFill>
                <a:latin typeface="Arial"/>
                <a:ea typeface="Arial"/>
                <a:cs typeface="Arial"/>
              </a:defRPr>
            </a:pPr>
            <a:r>
              <a:rPr sz="2025" b="0">
                <a:solidFill>
                  <a:srgbClr val="66777A"/>
                </a:solidFill>
                <a:latin typeface="Arial"/>
                <a:ea typeface="Arial"/>
                <a:cs typeface="Arial"/>
              </a:rPr>
              <a:t>Same four inputs. Same tuning budget.</a:t>
            </a:r>
          </a:p>
        </p:txBody>
      </p:sp>
      <p:graphicFrame>
        <p:nvGraphicFramePr>
          <p:cNvPr id="7" name="Chart"/>
          <p:cNvGraphicFramePr/>
          <p:nvPr/>
        </p:nvGraphicFramePr>
        <p:xfrm>
          <a:off xmlns:a="http://schemas.openxmlformats.org/drawingml/2006/main" x="723900" y="2247900"/>
          <a:ext xmlns:a="http://schemas.openxmlformats.org/drawingml/2006/main" cx="10744200" cy="3333750"/>
        </p:xfrm>
        <a:graphic xmlns:a="http://schemas.openxmlformats.org/drawingml/2006/main">
          <a:graphicData uri="http://schemas.openxmlformats.org/drawingml/2006/chart">
            <c:chart xmlns:r="http://schemas.openxmlformats.org/officeDocument/2006/relationships" xmlns:c="http://schemas.openxmlformats.org/drawingml/2006/chart" r:id="R93c5ab79a07d482d"/>
          </a:graphicData>
        </a:graphic>
      </p:graphicFrame>
      <p:sp>
        <p:nvSpPr>
          <p:cNvPr id="4" name="">
            <a:extLst xmlns:a="http://schemas.openxmlformats.org/drawingml/2006/main">
              <a:ext uri="{FF2B5EF4-FFF2-40B4-BE49-F238E27FC236}">
                <a16:creationId xmlns:a16="http://schemas.microsoft.com/office/drawing/2014/main" id="{95BB426D-A1F7-4BE1-A547-0BDA88A69747}"/>
              </a:ext>
            </a:extLst>
          </p:cNvPr>
          <p:cNvSpPr>
            <a:spLocks xmlns:a="http://schemas.openxmlformats.org/drawingml/2006/main" noGrp="1"/>
          </p:cNvSpPr>
          <p:nvPr/>
        </p:nvSpPr>
        <p:spPr>
          <a:xfrm xmlns:a="http://schemas.openxmlformats.org/drawingml/2006/main">
            <a:off x="723900" y="600075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Qiskit encodes angles and computes overlaps; both models use classical SVR.</a:t>
            </a:r>
          </a:p>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Equal tuning budgets and chronological preprocessing. MAE · ha/fire · lower is better.</a:t>
            </a:r>
          </a:p>
        </p:txBody>
      </p:sp>
    </p:spTree>
    <p:extLst>
      <p:ext uri="{BB962C8B-B14F-4D97-AF65-F5344CB8AC3E}">
        <p14:creationId xmlns:p14="http://schemas.microsoft.com/office/powerpoint/2010/main" val="1940973956"/>
      </p:ext>
    </p:extLst>
  </p:cSld>
</p:sld>
</file>

<file path=ppt/slides/slide5.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6DF749A-92D8-4DE1-AE45-5EF6C38BE77B}"/>
              </a:ext>
            </a:extLst>
          </p:cNvPr>
          <p:cNvSpPr>
            <a:spLocks xmlns:a="http://schemas.openxmlformats.org/drawingml/2006/main" noGrp="1"/>
          </p:cNvSpPr>
          <p:nvPr/>
        </p:nvSpPr>
        <p:spPr>
          <a:xfrm xmlns:a="http://schemas.openxmlformats.org/drawingml/2006/main">
            <a:off x="723900" y="5905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343A"/>
                </a:solidFill>
                <a:latin typeface="Arial"/>
                <a:ea typeface="Arial"/>
                <a:cs typeface="Arial"/>
              </a:defRPr>
            </a:pPr>
            <a:r>
              <a:rPr sz="3450" b="0">
                <a:solidFill>
                  <a:srgbClr val="17343A"/>
                </a:solidFill>
                <a:latin typeface="Arial"/>
                <a:ea typeface="Arial"/>
                <a:cs typeface="Arial"/>
              </a:rPr>
              <a:t>The extremes remain missed.</a:t>
            </a:r>
          </a:p>
        </p:txBody>
      </p:sp>
      <p:sp>
        <p:nvSpPr>
          <p:cNvPr id="2" name="">
            <a:extLst xmlns:a="http://schemas.openxmlformats.org/drawingml/2006/main">
              <a:ext uri="{FF2B5EF4-FFF2-40B4-BE49-F238E27FC236}">
                <a16:creationId xmlns:a16="http://schemas.microsoft.com/office/drawing/2014/main" id="{F219A73E-4B80-4B43-8A4F-BF340941714B}"/>
              </a:ext>
            </a:extLst>
          </p:cNvPr>
          <p:cNvSpPr>
            <a:spLocks xmlns:a="http://schemas.openxmlformats.org/drawingml/2006/main" noGrp="1"/>
          </p:cNvSpPr>
          <p:nvPr/>
        </p:nvSpPr>
        <p:spPr>
          <a:xfrm xmlns:a="http://schemas.openxmlformats.org/drawingml/2006/main">
            <a:off x="723900" y="1504950"/>
            <a:ext cx="10744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6777A"/>
                </a:solidFill>
                <a:latin typeface="Arial"/>
                <a:ea typeface="Arial"/>
                <a:cs typeface="Arial"/>
              </a:defRPr>
            </a:pPr>
            <a:r>
              <a:rPr sz="2025" b="0">
                <a:solidFill>
                  <a:srgbClr val="66777A"/>
                </a:solidFill>
                <a:latin typeface="Arial"/>
                <a:ea typeface="Arial"/>
                <a:cs typeface="Arial"/>
              </a:rPr>
              <a:t>Recorded mean hectares per fire—not total burned area.</a:t>
            </a:r>
          </a:p>
        </p:txBody>
      </p:sp>
      <p:sp>
        <p:nvSpPr>
          <p:cNvPr id="3" name="">
            <a:extLst xmlns:a="http://schemas.openxmlformats.org/drawingml/2006/main">
              <a:ext uri="{FF2B5EF4-FFF2-40B4-BE49-F238E27FC236}">
                <a16:creationId xmlns:a16="http://schemas.microsoft.com/office/drawing/2014/main" id="{8DC76666-D073-4699-B65E-01401FE8B1D1}"/>
              </a:ext>
            </a:extLst>
          </p:cNvPr>
          <p:cNvSpPr>
            <a:spLocks xmlns:a="http://schemas.openxmlformats.org/drawingml/2006/main" noGrp="1"/>
          </p:cNvSpPr>
          <p:nvPr/>
        </p:nvSpPr>
        <p:spPr>
          <a:xfrm xmlns:a="http://schemas.openxmlformats.org/drawingml/2006/main">
            <a:off x="723900" y="1981200"/>
            <a:ext cx="10744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Mean fire size · hectares per recorded fire</a:t>
            </a:r>
          </a:p>
        </p:txBody>
      </p:sp>
      <p:graphicFrame>
        <p:nvGraphicFramePr>
          <p:cNvPr id="9" name="Chart"/>
          <p:cNvGraphicFramePr/>
          <p:nvPr/>
        </p:nvGraphicFramePr>
        <p:xfrm>
          <a:off xmlns:a="http://schemas.openxmlformats.org/drawingml/2006/main" x="723900" y="2333625"/>
          <a:ext xmlns:a="http://schemas.openxmlformats.org/drawingml/2006/main" cx="10744200" cy="3276600"/>
        </p:xfrm>
        <a:graphic xmlns:a="http://schemas.openxmlformats.org/drawingml/2006/main">
          <a:graphicData uri="http://schemas.openxmlformats.org/drawingml/2006/chart">
            <c:chart xmlns:r="http://schemas.openxmlformats.org/officeDocument/2006/relationships" xmlns:c="http://schemas.openxmlformats.org/drawingml/2006/chart" r:id="R2e885a0285264911"/>
          </a:graphicData>
        </a:graphic>
      </p:graphicFrame>
      <p:sp>
        <p:nvSpPr>
          <p:cNvPr id="5" name="">
            <a:extLst xmlns:a="http://schemas.openxmlformats.org/drawingml/2006/main">
              <a:ext uri="{FF2B5EF4-FFF2-40B4-BE49-F238E27FC236}">
                <a16:creationId xmlns:a16="http://schemas.microsoft.com/office/drawing/2014/main" id="{51A7731E-ACBA-4644-A240-E9934A309221}"/>
              </a:ext>
            </a:extLst>
          </p:cNvPr>
          <p:cNvSpPr>
            <a:spLocks xmlns:a="http://schemas.openxmlformats.org/drawingml/2006/main" noGrp="1"/>
          </p:cNvSpPr>
          <p:nvPr/>
        </p:nvSpPr>
        <p:spPr>
          <a:xfrm xmlns:a="http://schemas.openxmlformats.org/drawingml/2006/main">
            <a:off x="723900" y="600075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Reused-year MAE · mean 276.81 · QSVR 280.68 · RBF 299.81 ha/fire</a:t>
            </a:r>
          </a:p>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Frozen before annual evaluation; these six years are not a pristine holdout.</a:t>
            </a:r>
          </a:p>
        </p:txBody>
      </p:sp>
    </p:spTree>
    <p:extLst>
      <p:ext uri="{BB962C8B-B14F-4D97-AF65-F5344CB8AC3E}">
        <p14:creationId xmlns:p14="http://schemas.microsoft.com/office/powerpoint/2010/main" val="1352298548"/>
      </p:ext>
    </p:extLst>
  </p:cSld>
</p:sld>
</file>

<file path=ppt/slides/slide6.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35C79245-D96D-4B8A-A495-4F3735B69814}"/>
              </a:ext>
            </a:extLst>
          </p:cNvPr>
          <p:cNvSpPr>
            <a:spLocks xmlns:a="http://schemas.openxmlformats.org/drawingml/2006/main" noGrp="1"/>
          </p:cNvSpPr>
          <p:nvPr/>
        </p:nvSpPr>
        <p:spPr>
          <a:xfrm xmlns:a="http://schemas.openxmlformats.org/drawingml/2006/main">
            <a:off x="723900" y="5905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343A"/>
                </a:solidFill>
                <a:latin typeface="Arial"/>
                <a:ea typeface="Arial"/>
                <a:cs typeface="Arial"/>
              </a:defRPr>
            </a:pPr>
            <a:r>
              <a:rPr sz="3450" b="0">
                <a:solidFill>
                  <a:srgbClr val="17343A"/>
                </a:solidFill>
                <a:latin typeface="Arial"/>
                <a:ea typeface="Arial"/>
                <a:cs typeface="Arial"/>
              </a:rPr>
              <a:t>Turn the angle. Change similarity.</a:t>
            </a:r>
          </a:p>
        </p:txBody>
      </p:sp>
      <p:sp>
        <p:nvSpPr>
          <p:cNvPr id="2" name="">
            <a:extLst xmlns:a="http://schemas.openxmlformats.org/drawingml/2006/main">
              <a:ext uri="{FF2B5EF4-FFF2-40B4-BE49-F238E27FC236}">
                <a16:creationId xmlns:a16="http://schemas.microsoft.com/office/drawing/2014/main" id="{CCDAC503-4B87-450B-A088-BAE1AC9000EA}"/>
              </a:ext>
            </a:extLst>
          </p:cNvPr>
          <p:cNvSpPr>
            <a:spLocks xmlns:a="http://schemas.openxmlformats.org/drawingml/2006/main" noGrp="1"/>
          </p:cNvSpPr>
          <p:nvPr/>
        </p:nvSpPr>
        <p:spPr>
          <a:xfrm xmlns:a="http://schemas.openxmlformats.org/drawingml/2006/main">
            <a:off x="723900" y="1504950"/>
            <a:ext cx="107442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66777A"/>
                </a:solidFill>
                <a:latin typeface="Arial"/>
                <a:ea typeface="Arial"/>
                <a:cs typeface="Arial"/>
              </a:defRPr>
            </a:pPr>
            <a:r>
              <a:rPr sz="2025" b="0">
                <a:solidFill>
                  <a:srgbClr val="66777A"/>
                </a:solidFill>
                <a:latin typeface="Arial"/>
                <a:ea typeface="Arial"/>
                <a:cs typeface="Arial"/>
              </a:rPr>
              <a:t>A measured scale sweep—not a newly fitted predictor.</a:t>
            </a:r>
          </a:p>
        </p:txBody>
      </p:sp>
      <p:sp>
        <p:nvSpPr>
          <p:cNvPr id="3" name="">
            <a:extLst xmlns:a="http://schemas.openxmlformats.org/drawingml/2006/main">
              <a:ext uri="{FF2B5EF4-FFF2-40B4-BE49-F238E27FC236}">
                <a16:creationId xmlns:a16="http://schemas.microsoft.com/office/drawing/2014/main" id="{C3174514-5C0B-42D5-A053-37235B0A3781}"/>
              </a:ext>
            </a:extLst>
          </p:cNvPr>
          <p:cNvSpPr>
            <a:spLocks xmlns:a="http://schemas.openxmlformats.org/drawingml/2006/main" noGrp="1"/>
          </p:cNvSpPr>
          <p:nvPr/>
        </p:nvSpPr>
        <p:spPr>
          <a:xfrm xmlns:a="http://schemas.openxmlformats.org/drawingml/2006/main">
            <a:off x="923925" y="2409825"/>
            <a:ext cx="857250" cy="857250"/>
          </a:xfrm>
          <a:prstGeom xmlns:a="http://schemas.openxmlformats.org/drawingml/2006/main" prst="ellipse">
            <a:avLst/>
          </a:prstGeom>
          <a:noFill xmlns:a="http://schemas.openxmlformats.org/drawingml/2006/main"/>
          <a:ln xmlns:a="http://schemas.openxmlformats.org/drawingml/2006/main" w="9525">
            <a:solidFill>
              <a:srgbClr val="89A496"/>
            </a:solidFill>
          </a:ln>
        </p:spPr>
      </p:sp>
      <p:sp>
        <p:nvSpPr>
          <p:cNvPr id="4" name="">
            <a:extLst xmlns:a="http://schemas.openxmlformats.org/drawingml/2006/main">
              <a:ext uri="{FF2B5EF4-FFF2-40B4-BE49-F238E27FC236}">
                <a16:creationId xmlns:a16="http://schemas.microsoft.com/office/drawing/2014/main" id="{D8598336-44C5-4F7D-A135-17A6519020DD}"/>
              </a:ext>
            </a:extLst>
          </p:cNvPr>
          <p:cNvSpPr>
            <a:spLocks xmlns:a="http://schemas.openxmlformats.org/drawingml/2006/main" noGrp="1"/>
          </p:cNvSpPr>
          <p:nvPr/>
        </p:nvSpPr>
        <p:spPr>
          <a:xfrm xmlns:a="http://schemas.openxmlformats.org/drawingml/2006/main">
            <a:off x="923925" y="2695575"/>
            <a:ext cx="857250" cy="285750"/>
          </a:xfrm>
          <a:prstGeom xmlns:a="http://schemas.openxmlformats.org/drawingml/2006/main" prst="ellipse">
            <a:avLst/>
          </a:prstGeom>
          <a:noFill xmlns:a="http://schemas.openxmlformats.org/drawingml/2006/main"/>
          <a:ln xmlns:a="http://schemas.openxmlformats.org/drawingml/2006/main" w="9525">
            <a:solidFill>
              <a:srgbClr val="ADBBB2"/>
            </a:solidFill>
          </a:ln>
        </p:spPr>
      </p:sp>
      <p:sp>
        <p:nvSpPr>
          <p:cNvPr id="5" name="">
            <a:extLst xmlns:a="http://schemas.openxmlformats.org/drawingml/2006/main">
              <a:ext uri="{FF2B5EF4-FFF2-40B4-BE49-F238E27FC236}">
                <a16:creationId xmlns:a16="http://schemas.microsoft.com/office/drawing/2014/main" id="{0A73C52E-9DC4-4175-BEEC-BF84A9FC6D60}"/>
              </a:ext>
            </a:extLst>
          </p:cNvPr>
          <p:cNvSpPr>
            <a:spLocks xmlns:a="http://schemas.openxmlformats.org/drawingml/2006/main" noGrp="1"/>
          </p:cNvSpPr>
          <p:nvPr/>
        </p:nvSpPr>
        <p:spPr>
          <a:xfrm xmlns:a="http://schemas.openxmlformats.org/drawingml/2006/main" flipV="1">
            <a:off x="1352550" y="2743609"/>
            <a:ext cx="306324" cy="94841"/>
          </a:xfrm>
          <a:prstGeom xmlns:a="http://schemas.openxmlformats.org/drawingml/2006/main" prst="line">
            <a:avLst/>
          </a:prstGeom>
          <a:noFill xmlns:a="http://schemas.openxmlformats.org/drawingml/2006/main"/>
          <a:ln xmlns:a="http://schemas.openxmlformats.org/drawingml/2006/main" w="28575">
            <a:solidFill>
              <a:srgbClr val="18747C"/>
            </a:solidFill>
          </a:ln>
        </p:spPr>
      </p:sp>
      <p:sp>
        <p:nvSpPr>
          <p:cNvPr id="6" name="">
            <a:extLst xmlns:a="http://schemas.openxmlformats.org/drawingml/2006/main">
              <a:ext uri="{FF2B5EF4-FFF2-40B4-BE49-F238E27FC236}">
                <a16:creationId xmlns:a16="http://schemas.microsoft.com/office/drawing/2014/main" id="{93436532-CE99-4764-BA06-64040CD54FEE}"/>
              </a:ext>
            </a:extLst>
          </p:cNvPr>
          <p:cNvSpPr>
            <a:spLocks xmlns:a="http://schemas.openxmlformats.org/drawingml/2006/main" noGrp="1"/>
          </p:cNvSpPr>
          <p:nvPr/>
        </p:nvSpPr>
        <p:spPr>
          <a:xfrm xmlns:a="http://schemas.openxmlformats.org/drawingml/2006/main">
            <a:off x="1620774" y="2705509"/>
            <a:ext cx="76200" cy="76200"/>
          </a:xfrm>
          <a:prstGeom xmlns:a="http://schemas.openxmlformats.org/drawingml/2006/main" prst="ellipse">
            <a:avLst/>
          </a:prstGeom>
          <a:solidFill xmlns:a="http://schemas.openxmlformats.org/drawingml/2006/main">
            <a:srgbClr val="18747C"/>
          </a:solidFill>
          <a:ln xmlns:a="http://schemas.openxmlformats.org/drawingml/2006/main" w="9525">
            <a:solidFill>
              <a:srgbClr val="18747C"/>
            </a:solidFill>
          </a:ln>
        </p:spPr>
      </p:sp>
      <p:sp>
        <p:nvSpPr>
          <p:cNvPr id="7" name="">
            <a:extLst xmlns:a="http://schemas.openxmlformats.org/drawingml/2006/main">
              <a:ext uri="{FF2B5EF4-FFF2-40B4-BE49-F238E27FC236}">
                <a16:creationId xmlns:a16="http://schemas.microsoft.com/office/drawing/2014/main" id="{D1803DA3-1DC1-48E4-8BC2-D5416CE9D991}"/>
              </a:ext>
            </a:extLst>
          </p:cNvPr>
          <p:cNvSpPr>
            <a:spLocks xmlns:a="http://schemas.openxmlformats.org/drawingml/2006/main" noGrp="1"/>
          </p:cNvSpPr>
          <p:nvPr/>
        </p:nvSpPr>
        <p:spPr>
          <a:xfrm xmlns:a="http://schemas.openxmlformats.org/drawingml/2006/main">
            <a:off x="857250" y="3495675"/>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77A"/>
                </a:solidFill>
                <a:latin typeface="Arial"/>
                <a:ea typeface="Arial"/>
                <a:cs typeface="Arial"/>
              </a:defRPr>
            </a:pPr>
            <a:r>
              <a:rPr sz="1275" b="0">
                <a:solidFill>
                  <a:srgbClr val="66777A"/>
                </a:solidFill>
                <a:latin typeface="Arial"/>
                <a:ea typeface="Arial"/>
                <a:cs typeface="Arial"/>
              </a:rPr>
              <a:t>θ = -0.36</a:t>
            </a:r>
          </a:p>
        </p:txBody>
      </p:sp>
      <p:sp>
        <p:nvSpPr>
          <p:cNvPr id="8" name="">
            <a:extLst xmlns:a="http://schemas.openxmlformats.org/drawingml/2006/main">
              <a:ext uri="{FF2B5EF4-FFF2-40B4-BE49-F238E27FC236}">
                <a16:creationId xmlns:a16="http://schemas.microsoft.com/office/drawing/2014/main" id="{D1401C94-85D4-485A-B019-8A7664A98D5B}"/>
              </a:ext>
            </a:extLst>
          </p:cNvPr>
          <p:cNvSpPr>
            <a:spLocks xmlns:a="http://schemas.openxmlformats.org/drawingml/2006/main" noGrp="1"/>
          </p:cNvSpPr>
          <p:nvPr/>
        </p:nvSpPr>
        <p:spPr>
          <a:xfrm xmlns:a="http://schemas.openxmlformats.org/drawingml/2006/main">
            <a:off x="2143125" y="2409825"/>
            <a:ext cx="857250" cy="857250"/>
          </a:xfrm>
          <a:prstGeom xmlns:a="http://schemas.openxmlformats.org/drawingml/2006/main" prst="ellipse">
            <a:avLst/>
          </a:prstGeom>
          <a:noFill xmlns:a="http://schemas.openxmlformats.org/drawingml/2006/main"/>
          <a:ln xmlns:a="http://schemas.openxmlformats.org/drawingml/2006/main" w="9525">
            <a:solidFill>
              <a:srgbClr val="89A496"/>
            </a:solidFill>
          </a:ln>
        </p:spPr>
      </p:sp>
      <p:sp>
        <p:nvSpPr>
          <p:cNvPr id="9" name="">
            <a:extLst xmlns:a="http://schemas.openxmlformats.org/drawingml/2006/main">
              <a:ext uri="{FF2B5EF4-FFF2-40B4-BE49-F238E27FC236}">
                <a16:creationId xmlns:a16="http://schemas.microsoft.com/office/drawing/2014/main" id="{A12303EB-0F60-48AA-8DF3-7B8475BEF5B3}"/>
              </a:ext>
            </a:extLst>
          </p:cNvPr>
          <p:cNvSpPr>
            <a:spLocks xmlns:a="http://schemas.openxmlformats.org/drawingml/2006/main" noGrp="1"/>
          </p:cNvSpPr>
          <p:nvPr/>
        </p:nvSpPr>
        <p:spPr>
          <a:xfrm xmlns:a="http://schemas.openxmlformats.org/drawingml/2006/main">
            <a:off x="2143125" y="2695575"/>
            <a:ext cx="857250" cy="285750"/>
          </a:xfrm>
          <a:prstGeom xmlns:a="http://schemas.openxmlformats.org/drawingml/2006/main" prst="ellipse">
            <a:avLst/>
          </a:prstGeom>
          <a:noFill xmlns:a="http://schemas.openxmlformats.org/drawingml/2006/main"/>
          <a:ln xmlns:a="http://schemas.openxmlformats.org/drawingml/2006/main" w="9525">
            <a:solidFill>
              <a:srgbClr val="ADBBB2"/>
            </a:solidFill>
          </a:ln>
        </p:spPr>
      </p:sp>
      <p:sp>
        <p:nvSpPr>
          <p:cNvPr id="10" name="">
            <a:extLst xmlns:a="http://schemas.openxmlformats.org/drawingml/2006/main">
              <a:ext uri="{FF2B5EF4-FFF2-40B4-BE49-F238E27FC236}">
                <a16:creationId xmlns:a16="http://schemas.microsoft.com/office/drawing/2014/main" id="{6C4ACF82-26A7-42C9-9DF1-85087426D5C5}"/>
              </a:ext>
            </a:extLst>
          </p:cNvPr>
          <p:cNvSpPr>
            <a:spLocks xmlns:a="http://schemas.openxmlformats.org/drawingml/2006/main" noGrp="1"/>
          </p:cNvSpPr>
          <p:nvPr/>
        </p:nvSpPr>
        <p:spPr>
          <a:xfrm xmlns:a="http://schemas.openxmlformats.org/drawingml/2006/main" flipV="0">
            <a:off x="2571750" y="2838450"/>
            <a:ext cx="398425" cy="33110"/>
          </a:xfrm>
          <a:prstGeom xmlns:a="http://schemas.openxmlformats.org/drawingml/2006/main" prst="line">
            <a:avLst/>
          </a:prstGeom>
          <a:noFill xmlns:a="http://schemas.openxmlformats.org/drawingml/2006/main"/>
          <a:ln xmlns:a="http://schemas.openxmlformats.org/drawingml/2006/main" w="28575">
            <a:solidFill>
              <a:srgbClr val="18747C"/>
            </a:solidFill>
          </a:ln>
        </p:spPr>
      </p:sp>
      <p:sp>
        <p:nvSpPr>
          <p:cNvPr id="11" name="">
            <a:extLst xmlns:a="http://schemas.openxmlformats.org/drawingml/2006/main">
              <a:ext uri="{FF2B5EF4-FFF2-40B4-BE49-F238E27FC236}">
                <a16:creationId xmlns:a16="http://schemas.microsoft.com/office/drawing/2014/main" id="{D26E6C0A-1BDD-4EF2-8948-5ED7150BD7CE}"/>
              </a:ext>
            </a:extLst>
          </p:cNvPr>
          <p:cNvSpPr>
            <a:spLocks xmlns:a="http://schemas.openxmlformats.org/drawingml/2006/main" noGrp="1"/>
          </p:cNvSpPr>
          <p:nvPr/>
        </p:nvSpPr>
        <p:spPr>
          <a:xfrm xmlns:a="http://schemas.openxmlformats.org/drawingml/2006/main">
            <a:off x="2932075" y="2833460"/>
            <a:ext cx="76200" cy="76200"/>
          </a:xfrm>
          <a:prstGeom xmlns:a="http://schemas.openxmlformats.org/drawingml/2006/main" prst="ellipse">
            <a:avLst/>
          </a:prstGeom>
          <a:solidFill xmlns:a="http://schemas.openxmlformats.org/drawingml/2006/main">
            <a:srgbClr val="18747C"/>
          </a:solidFill>
          <a:ln xmlns:a="http://schemas.openxmlformats.org/drawingml/2006/main" w="9525">
            <a:solidFill>
              <a:srgbClr val="18747C"/>
            </a:solidFill>
          </a:ln>
        </p:spPr>
      </p:sp>
      <p:sp>
        <p:nvSpPr>
          <p:cNvPr id="12" name="">
            <a:extLst xmlns:a="http://schemas.openxmlformats.org/drawingml/2006/main">
              <a:ext uri="{FF2B5EF4-FFF2-40B4-BE49-F238E27FC236}">
                <a16:creationId xmlns:a16="http://schemas.microsoft.com/office/drawing/2014/main" id="{7F06B4F2-242F-4EC8-870A-22A902523B09}"/>
              </a:ext>
            </a:extLst>
          </p:cNvPr>
          <p:cNvSpPr>
            <a:spLocks xmlns:a="http://schemas.openxmlformats.org/drawingml/2006/main" noGrp="1"/>
          </p:cNvSpPr>
          <p:nvPr/>
        </p:nvSpPr>
        <p:spPr>
          <a:xfrm xmlns:a="http://schemas.openxmlformats.org/drawingml/2006/main">
            <a:off x="2076450" y="3495675"/>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77A"/>
                </a:solidFill>
                <a:latin typeface="Arial"/>
                <a:ea typeface="Arial"/>
                <a:cs typeface="Arial"/>
              </a:defRPr>
            </a:pPr>
            <a:r>
              <a:rPr sz="1275" b="0">
                <a:solidFill>
                  <a:srgbClr val="66777A"/>
                </a:solidFill>
                <a:latin typeface="Arial"/>
                <a:ea typeface="Arial"/>
                <a:cs typeface="Arial"/>
              </a:rPr>
              <a:t>θ = 0.12</a:t>
            </a:r>
          </a:p>
        </p:txBody>
      </p:sp>
      <p:sp>
        <p:nvSpPr>
          <p:cNvPr id="13" name="">
            <a:extLst xmlns:a="http://schemas.openxmlformats.org/drawingml/2006/main">
              <a:ext uri="{FF2B5EF4-FFF2-40B4-BE49-F238E27FC236}">
                <a16:creationId xmlns:a16="http://schemas.microsoft.com/office/drawing/2014/main" id="{828C4184-78C9-49D2-8D5D-92E6CA8703D7}"/>
              </a:ext>
            </a:extLst>
          </p:cNvPr>
          <p:cNvSpPr>
            <a:spLocks xmlns:a="http://schemas.openxmlformats.org/drawingml/2006/main" noGrp="1"/>
          </p:cNvSpPr>
          <p:nvPr/>
        </p:nvSpPr>
        <p:spPr>
          <a:xfrm xmlns:a="http://schemas.openxmlformats.org/drawingml/2006/main">
            <a:off x="3362325" y="2409825"/>
            <a:ext cx="857250" cy="857250"/>
          </a:xfrm>
          <a:prstGeom xmlns:a="http://schemas.openxmlformats.org/drawingml/2006/main" prst="ellipse">
            <a:avLst/>
          </a:prstGeom>
          <a:noFill xmlns:a="http://schemas.openxmlformats.org/drawingml/2006/main"/>
          <a:ln xmlns:a="http://schemas.openxmlformats.org/drawingml/2006/main" w="9525">
            <a:solidFill>
              <a:srgbClr val="89A496"/>
            </a:solidFill>
          </a:ln>
        </p:spPr>
      </p:sp>
      <p:sp>
        <p:nvSpPr>
          <p:cNvPr id="14" name="">
            <a:extLst xmlns:a="http://schemas.openxmlformats.org/drawingml/2006/main">
              <a:ext uri="{FF2B5EF4-FFF2-40B4-BE49-F238E27FC236}">
                <a16:creationId xmlns:a16="http://schemas.microsoft.com/office/drawing/2014/main" id="{0F6FCE0D-DF9F-45BC-93CC-2FB68C9A2FD6}"/>
              </a:ext>
            </a:extLst>
          </p:cNvPr>
          <p:cNvSpPr>
            <a:spLocks xmlns:a="http://schemas.openxmlformats.org/drawingml/2006/main" noGrp="1"/>
          </p:cNvSpPr>
          <p:nvPr/>
        </p:nvSpPr>
        <p:spPr>
          <a:xfrm xmlns:a="http://schemas.openxmlformats.org/drawingml/2006/main">
            <a:off x="3362325" y="2695575"/>
            <a:ext cx="857250" cy="285750"/>
          </a:xfrm>
          <a:prstGeom xmlns:a="http://schemas.openxmlformats.org/drawingml/2006/main" prst="ellipse">
            <a:avLst/>
          </a:prstGeom>
          <a:noFill xmlns:a="http://schemas.openxmlformats.org/drawingml/2006/main"/>
          <a:ln xmlns:a="http://schemas.openxmlformats.org/drawingml/2006/main" w="9525">
            <a:solidFill>
              <a:srgbClr val="ADBBB2"/>
            </a:solidFill>
          </a:ln>
        </p:spPr>
      </p:sp>
      <p:sp>
        <p:nvSpPr>
          <p:cNvPr id="15" name="">
            <a:extLst xmlns:a="http://schemas.openxmlformats.org/drawingml/2006/main">
              <a:ext uri="{FF2B5EF4-FFF2-40B4-BE49-F238E27FC236}">
                <a16:creationId xmlns:a16="http://schemas.microsoft.com/office/drawing/2014/main" id="{9C89F104-4C99-4075-A6F1-C518EFFA6FCB}"/>
              </a:ext>
            </a:extLst>
          </p:cNvPr>
          <p:cNvSpPr>
            <a:spLocks xmlns:a="http://schemas.openxmlformats.org/drawingml/2006/main" noGrp="1"/>
          </p:cNvSpPr>
          <p:nvPr/>
        </p:nvSpPr>
        <p:spPr>
          <a:xfrm xmlns:a="http://schemas.openxmlformats.org/drawingml/2006/main" flipV="0">
            <a:off x="3790950" y="2838450"/>
            <a:ext cx="338770" cy="80298"/>
          </a:xfrm>
          <a:prstGeom xmlns:a="http://schemas.openxmlformats.org/drawingml/2006/main" prst="line">
            <a:avLst/>
          </a:prstGeom>
          <a:noFill xmlns:a="http://schemas.openxmlformats.org/drawingml/2006/main"/>
          <a:ln xmlns:a="http://schemas.openxmlformats.org/drawingml/2006/main" w="28575">
            <a:solidFill>
              <a:srgbClr val="18747C"/>
            </a:solidFill>
          </a:ln>
        </p:spPr>
      </p:sp>
      <p:sp>
        <p:nvSpPr>
          <p:cNvPr id="16" name="">
            <a:extLst xmlns:a="http://schemas.openxmlformats.org/drawingml/2006/main">
              <a:ext uri="{FF2B5EF4-FFF2-40B4-BE49-F238E27FC236}">
                <a16:creationId xmlns:a16="http://schemas.microsoft.com/office/drawing/2014/main" id="{9E1FCB1C-9AC6-4640-8043-F1084ED09371}"/>
              </a:ext>
            </a:extLst>
          </p:cNvPr>
          <p:cNvSpPr>
            <a:spLocks xmlns:a="http://schemas.openxmlformats.org/drawingml/2006/main" noGrp="1"/>
          </p:cNvSpPr>
          <p:nvPr/>
        </p:nvSpPr>
        <p:spPr>
          <a:xfrm xmlns:a="http://schemas.openxmlformats.org/drawingml/2006/main">
            <a:off x="4091620" y="2880648"/>
            <a:ext cx="76200" cy="76200"/>
          </a:xfrm>
          <a:prstGeom xmlns:a="http://schemas.openxmlformats.org/drawingml/2006/main" prst="ellipse">
            <a:avLst/>
          </a:prstGeom>
          <a:solidFill xmlns:a="http://schemas.openxmlformats.org/drawingml/2006/main">
            <a:srgbClr val="18747C"/>
          </a:solidFill>
          <a:ln xmlns:a="http://schemas.openxmlformats.org/drawingml/2006/main" w="9525">
            <a:solidFill>
              <a:srgbClr val="18747C"/>
            </a:solidFill>
          </a:ln>
        </p:spPr>
      </p:sp>
      <p:sp>
        <p:nvSpPr>
          <p:cNvPr id="17" name="">
            <a:extLst xmlns:a="http://schemas.openxmlformats.org/drawingml/2006/main">
              <a:ext uri="{FF2B5EF4-FFF2-40B4-BE49-F238E27FC236}">
                <a16:creationId xmlns:a16="http://schemas.microsoft.com/office/drawing/2014/main" id="{97BF0ACB-1F58-4E46-B762-183110AEC49F}"/>
              </a:ext>
            </a:extLst>
          </p:cNvPr>
          <p:cNvSpPr>
            <a:spLocks xmlns:a="http://schemas.openxmlformats.org/drawingml/2006/main" noGrp="1"/>
          </p:cNvSpPr>
          <p:nvPr/>
        </p:nvSpPr>
        <p:spPr>
          <a:xfrm xmlns:a="http://schemas.openxmlformats.org/drawingml/2006/main">
            <a:off x="3295650" y="3495675"/>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77A"/>
                </a:solidFill>
                <a:latin typeface="Arial"/>
                <a:ea typeface="Arial"/>
                <a:cs typeface="Arial"/>
              </a:defRPr>
            </a:pPr>
            <a:r>
              <a:rPr sz="1275" b="0">
                <a:solidFill>
                  <a:srgbClr val="66777A"/>
                </a:solidFill>
                <a:latin typeface="Arial"/>
                <a:ea typeface="Arial"/>
                <a:cs typeface="Arial"/>
              </a:rPr>
              <a:t>θ = 0.30</a:t>
            </a:r>
          </a:p>
        </p:txBody>
      </p:sp>
      <p:sp>
        <p:nvSpPr>
          <p:cNvPr id="18" name="">
            <a:extLst xmlns:a="http://schemas.openxmlformats.org/drawingml/2006/main">
              <a:ext uri="{FF2B5EF4-FFF2-40B4-BE49-F238E27FC236}">
                <a16:creationId xmlns:a16="http://schemas.microsoft.com/office/drawing/2014/main" id="{1B1D5258-B9C6-4224-9E10-99DF6A554334}"/>
              </a:ext>
            </a:extLst>
          </p:cNvPr>
          <p:cNvSpPr>
            <a:spLocks xmlns:a="http://schemas.openxmlformats.org/drawingml/2006/main" noGrp="1"/>
          </p:cNvSpPr>
          <p:nvPr/>
        </p:nvSpPr>
        <p:spPr>
          <a:xfrm xmlns:a="http://schemas.openxmlformats.org/drawingml/2006/main">
            <a:off x="4581525" y="2409825"/>
            <a:ext cx="857250" cy="857250"/>
          </a:xfrm>
          <a:prstGeom xmlns:a="http://schemas.openxmlformats.org/drawingml/2006/main" prst="ellipse">
            <a:avLst/>
          </a:prstGeom>
          <a:noFill xmlns:a="http://schemas.openxmlformats.org/drawingml/2006/main"/>
          <a:ln xmlns:a="http://schemas.openxmlformats.org/drawingml/2006/main" w="9525">
            <a:solidFill>
              <a:srgbClr val="89A496"/>
            </a:solidFill>
          </a:ln>
        </p:spPr>
      </p:sp>
      <p:sp>
        <p:nvSpPr>
          <p:cNvPr id="19" name="">
            <a:extLst xmlns:a="http://schemas.openxmlformats.org/drawingml/2006/main">
              <a:ext uri="{FF2B5EF4-FFF2-40B4-BE49-F238E27FC236}">
                <a16:creationId xmlns:a16="http://schemas.microsoft.com/office/drawing/2014/main" id="{D0A85431-FFC7-4A4A-8346-A81094A80698}"/>
              </a:ext>
            </a:extLst>
          </p:cNvPr>
          <p:cNvSpPr>
            <a:spLocks xmlns:a="http://schemas.openxmlformats.org/drawingml/2006/main" noGrp="1"/>
          </p:cNvSpPr>
          <p:nvPr/>
        </p:nvSpPr>
        <p:spPr>
          <a:xfrm xmlns:a="http://schemas.openxmlformats.org/drawingml/2006/main">
            <a:off x="4581525" y="2695575"/>
            <a:ext cx="857250" cy="285750"/>
          </a:xfrm>
          <a:prstGeom xmlns:a="http://schemas.openxmlformats.org/drawingml/2006/main" prst="ellipse">
            <a:avLst/>
          </a:prstGeom>
          <a:noFill xmlns:a="http://schemas.openxmlformats.org/drawingml/2006/main"/>
          <a:ln xmlns:a="http://schemas.openxmlformats.org/drawingml/2006/main" w="9525">
            <a:solidFill>
              <a:srgbClr val="ADBBB2"/>
            </a:solidFill>
          </a:ln>
        </p:spPr>
      </p:sp>
      <p:sp>
        <p:nvSpPr>
          <p:cNvPr id="20" name="">
            <a:extLst xmlns:a="http://schemas.openxmlformats.org/drawingml/2006/main">
              <a:ext uri="{FF2B5EF4-FFF2-40B4-BE49-F238E27FC236}">
                <a16:creationId xmlns:a16="http://schemas.microsoft.com/office/drawing/2014/main" id="{CB2CCCD0-2667-4E06-B1EE-213E0940348D}"/>
              </a:ext>
            </a:extLst>
          </p:cNvPr>
          <p:cNvSpPr>
            <a:spLocks xmlns:a="http://schemas.openxmlformats.org/drawingml/2006/main" noGrp="1"/>
          </p:cNvSpPr>
          <p:nvPr/>
        </p:nvSpPr>
        <p:spPr>
          <a:xfrm xmlns:a="http://schemas.openxmlformats.org/drawingml/2006/main" flipV="0">
            <a:off x="5010150" y="2838450"/>
            <a:ext cx="238463" cy="116162"/>
          </a:xfrm>
          <a:prstGeom xmlns:a="http://schemas.openxmlformats.org/drawingml/2006/main" prst="line">
            <a:avLst/>
          </a:prstGeom>
          <a:noFill xmlns:a="http://schemas.openxmlformats.org/drawingml/2006/main"/>
          <a:ln xmlns:a="http://schemas.openxmlformats.org/drawingml/2006/main" w="28575">
            <a:solidFill>
              <a:srgbClr val="18747C"/>
            </a:solidFill>
          </a:ln>
        </p:spPr>
      </p:sp>
      <p:sp>
        <p:nvSpPr>
          <p:cNvPr id="21" name="">
            <a:extLst xmlns:a="http://schemas.openxmlformats.org/drawingml/2006/main">
              <a:ext uri="{FF2B5EF4-FFF2-40B4-BE49-F238E27FC236}">
                <a16:creationId xmlns:a16="http://schemas.microsoft.com/office/drawing/2014/main" id="{D435EDCA-1061-44F4-A533-51C1EE2D0E17}"/>
              </a:ext>
            </a:extLst>
          </p:cNvPr>
          <p:cNvSpPr>
            <a:spLocks xmlns:a="http://schemas.openxmlformats.org/drawingml/2006/main" noGrp="1"/>
          </p:cNvSpPr>
          <p:nvPr/>
        </p:nvSpPr>
        <p:spPr>
          <a:xfrm xmlns:a="http://schemas.openxmlformats.org/drawingml/2006/main">
            <a:off x="5210513" y="2916512"/>
            <a:ext cx="76200" cy="76200"/>
          </a:xfrm>
          <a:prstGeom xmlns:a="http://schemas.openxmlformats.org/drawingml/2006/main" prst="ellipse">
            <a:avLst/>
          </a:prstGeom>
          <a:solidFill xmlns:a="http://schemas.openxmlformats.org/drawingml/2006/main">
            <a:srgbClr val="18747C"/>
          </a:solidFill>
          <a:ln xmlns:a="http://schemas.openxmlformats.org/drawingml/2006/main" w="9525">
            <a:solidFill>
              <a:srgbClr val="18747C"/>
            </a:solidFill>
          </a:ln>
        </p:spPr>
      </p:sp>
      <p:sp>
        <p:nvSpPr>
          <p:cNvPr id="22" name="">
            <a:extLst xmlns:a="http://schemas.openxmlformats.org/drawingml/2006/main">
              <a:ext uri="{FF2B5EF4-FFF2-40B4-BE49-F238E27FC236}">
                <a16:creationId xmlns:a16="http://schemas.microsoft.com/office/drawing/2014/main" id="{80701612-6120-45C0-A539-5795BD0D3ACC}"/>
              </a:ext>
            </a:extLst>
          </p:cNvPr>
          <p:cNvSpPr>
            <a:spLocks xmlns:a="http://schemas.openxmlformats.org/drawingml/2006/main" noGrp="1"/>
          </p:cNvSpPr>
          <p:nvPr/>
        </p:nvSpPr>
        <p:spPr>
          <a:xfrm xmlns:a="http://schemas.openxmlformats.org/drawingml/2006/main">
            <a:off x="4514850" y="3495675"/>
            <a:ext cx="1047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66777A"/>
                </a:solidFill>
                <a:latin typeface="Arial"/>
                <a:ea typeface="Arial"/>
                <a:cs typeface="Arial"/>
              </a:defRPr>
            </a:pPr>
            <a:r>
              <a:rPr sz="1275" b="0">
                <a:solidFill>
                  <a:srgbClr val="66777A"/>
                </a:solidFill>
                <a:latin typeface="Arial"/>
                <a:ea typeface="Arial"/>
                <a:cs typeface="Arial"/>
              </a:rPr>
              <a:t>θ = 0.47</a:t>
            </a:r>
          </a:p>
        </p:txBody>
      </p:sp>
      <p:sp>
        <p:nvSpPr>
          <p:cNvPr id="23" name="">
            <a:extLst xmlns:a="http://schemas.openxmlformats.org/drawingml/2006/main">
              <a:ext uri="{FF2B5EF4-FFF2-40B4-BE49-F238E27FC236}">
                <a16:creationId xmlns:a16="http://schemas.microsoft.com/office/drawing/2014/main" id="{68BF328E-8AA8-44B9-9BE9-38861A31F467}"/>
              </a:ext>
            </a:extLst>
          </p:cNvPr>
          <p:cNvSpPr>
            <a:spLocks xmlns:a="http://schemas.openxmlformats.org/drawingml/2006/main" noGrp="1"/>
          </p:cNvSpPr>
          <p:nvPr/>
        </p:nvSpPr>
        <p:spPr>
          <a:xfrm xmlns:a="http://schemas.openxmlformats.org/drawingml/2006/main">
            <a:off x="723900" y="3952875"/>
            <a:ext cx="5238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Illustrative phase rotations at π/4 · radians</a:t>
            </a:r>
          </a:p>
        </p:txBody>
      </p:sp>
      <p:sp>
        <p:nvSpPr>
          <p:cNvPr id="24" name="">
            <a:extLst xmlns:a="http://schemas.openxmlformats.org/drawingml/2006/main">
              <a:ext uri="{FF2B5EF4-FFF2-40B4-BE49-F238E27FC236}">
                <a16:creationId xmlns:a16="http://schemas.microsoft.com/office/drawing/2014/main" id="{E7A26A21-F794-4B36-B061-1843BE5F0AF9}"/>
              </a:ext>
            </a:extLst>
          </p:cNvPr>
          <p:cNvSpPr>
            <a:spLocks xmlns:a="http://schemas.openxmlformats.org/drawingml/2006/main" noGrp="1"/>
          </p:cNvSpPr>
          <p:nvPr/>
        </p:nvSpPr>
        <p:spPr>
          <a:xfrm xmlns:a="http://schemas.openxmlformats.org/drawingml/2006/main">
            <a:off x="723900" y="4772025"/>
            <a:ext cx="5334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0">
                <a:solidFill>
                  <a:srgbClr val="18747C"/>
                </a:solidFill>
                <a:latin typeface="Arial"/>
                <a:ea typeface="Arial"/>
                <a:cs typeface="Arial"/>
              </a:defRPr>
            </a:pPr>
            <a:r>
              <a:rPr sz="2775" b="0">
                <a:solidFill>
                  <a:srgbClr val="18747C"/>
                </a:solidFill>
                <a:latin typeface="Arial"/>
                <a:ea typeface="Arial"/>
                <a:cs typeface="Arial"/>
              </a:rPr>
              <a:t>0.000805 → 0.538897</a:t>
            </a:r>
          </a:p>
        </p:txBody>
      </p:sp>
      <p:sp>
        <p:nvSpPr>
          <p:cNvPr id="25" name="">
            <a:extLst xmlns:a="http://schemas.openxmlformats.org/drawingml/2006/main">
              <a:ext uri="{FF2B5EF4-FFF2-40B4-BE49-F238E27FC236}">
                <a16:creationId xmlns:a16="http://schemas.microsoft.com/office/drawing/2014/main" id="{0D6A9437-0447-44A5-9349-0727484E6117}"/>
              </a:ext>
            </a:extLst>
          </p:cNvPr>
          <p:cNvSpPr>
            <a:spLocks xmlns:a="http://schemas.openxmlformats.org/drawingml/2006/main" noGrp="1"/>
          </p:cNvSpPr>
          <p:nvPr/>
        </p:nvSpPr>
        <p:spPr>
          <a:xfrm xmlns:a="http://schemas.openxmlformats.org/drawingml/2006/main">
            <a:off x="723900" y="5419725"/>
            <a:ext cx="5334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66777A"/>
                </a:solidFill>
                <a:latin typeface="Arial"/>
                <a:ea typeface="Arial"/>
                <a:cs typeface="Arial"/>
              </a:defRPr>
            </a:pPr>
            <a:r>
              <a:rPr sz="1575" b="0">
                <a:solidFill>
                  <a:srgbClr val="66777A"/>
                </a:solidFill>
                <a:latin typeface="Arial"/>
                <a:ea typeface="Arial"/>
                <a:cs typeface="Arial"/>
              </a:rPr>
              <a:t>Mean training fidelity · π/4 → π/32</a:t>
            </a:r>
          </a:p>
        </p:txBody>
      </p:sp>
      <p:sp>
        <p:nvSpPr>
          <p:cNvPr id="26" name="">
            <a:extLst xmlns:a="http://schemas.openxmlformats.org/drawingml/2006/main">
              <a:ext uri="{FF2B5EF4-FFF2-40B4-BE49-F238E27FC236}">
                <a16:creationId xmlns:a16="http://schemas.microsoft.com/office/drawing/2014/main" id="{C913487C-6173-4380-BEC4-C99759F44B7B}"/>
              </a:ext>
            </a:extLst>
          </p:cNvPr>
          <p:cNvSpPr>
            <a:spLocks xmlns:a="http://schemas.openxmlformats.org/drawingml/2006/main" noGrp="1"/>
          </p:cNvSpPr>
          <p:nvPr/>
        </p:nvSpPr>
        <p:spPr>
          <a:xfrm xmlns:a="http://schemas.openxmlformats.org/drawingml/2006/main">
            <a:off x="6572250" y="1962150"/>
            <a:ext cx="4905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Measured effective rank · maximum 31</a:t>
            </a:r>
          </a:p>
        </p:txBody>
      </p:sp>
      <p:graphicFrame>
        <p:nvGraphicFramePr>
          <p:cNvPr id="55" name="Chart"/>
          <p:cNvGraphicFramePr/>
          <p:nvPr/>
        </p:nvGraphicFramePr>
        <p:xfrm>
          <a:off xmlns:a="http://schemas.openxmlformats.org/drawingml/2006/main" x="6572250" y="2238375"/>
          <a:ext xmlns:a="http://schemas.openxmlformats.org/drawingml/2006/main" cx="4905375" cy="3238500"/>
        </p:xfrm>
        <a:graphic xmlns:a="http://schemas.openxmlformats.org/drawingml/2006/main">
          <a:graphicData uri="http://schemas.openxmlformats.org/drawingml/2006/chart">
            <c:chart xmlns:r="http://schemas.openxmlformats.org/officeDocument/2006/relationships" xmlns:c="http://schemas.openxmlformats.org/drawingml/2006/chart" r:id="Rb0f61ff163204f58"/>
          </a:graphicData>
        </a:graphic>
      </p:graphicFrame>
      <p:sp>
        <p:nvSpPr>
          <p:cNvPr id="28" name="">
            <a:extLst xmlns:a="http://schemas.openxmlformats.org/drawingml/2006/main">
              <a:ext uri="{FF2B5EF4-FFF2-40B4-BE49-F238E27FC236}">
                <a16:creationId xmlns:a16="http://schemas.microsoft.com/office/drawing/2014/main" id="{4CF5A919-3CE2-4EE5-9AF7-06AF8D76C096}"/>
              </a:ext>
            </a:extLst>
          </p:cNvPr>
          <p:cNvSpPr>
            <a:spLocks xmlns:a="http://schemas.openxmlformats.org/drawingml/2006/main" noGrp="1"/>
          </p:cNvSpPr>
          <p:nvPr/>
        </p:nvSpPr>
        <p:spPr>
          <a:xfrm xmlns:a="http://schemas.openxmlformats.org/drawingml/2006/main">
            <a:off x="723900" y="600075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Input-only diagnostic. Narrower angles can also make kernels ill-conditioned.</a:t>
            </a:r>
          </a:p>
        </p:txBody>
      </p:sp>
    </p:spTree>
    <p:extLst>
      <p:ext uri="{BB962C8B-B14F-4D97-AF65-F5344CB8AC3E}">
        <p14:creationId xmlns:p14="http://schemas.microsoft.com/office/powerpoint/2010/main" val="712006930"/>
      </p:ext>
    </p:extLst>
  </p:cSld>
</p:sld>
</file>

<file path=ppt/slides/slide7.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DF8188E-2BB2-4A5A-8137-C9B5DB3A290F}"/>
              </a:ext>
            </a:extLst>
          </p:cNvPr>
          <p:cNvSpPr>
            <a:spLocks xmlns:a="http://schemas.openxmlformats.org/drawingml/2006/main" noGrp="1"/>
          </p:cNvSpPr>
          <p:nvPr/>
        </p:nvSpPr>
        <p:spPr>
          <a:xfrm xmlns:a="http://schemas.openxmlformats.org/drawingml/2006/main">
            <a:off x="723900" y="5905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343A"/>
                </a:solidFill>
                <a:latin typeface="Arial"/>
                <a:ea typeface="Arial"/>
                <a:cs typeface="Arial"/>
              </a:defRPr>
            </a:pPr>
            <a:r>
              <a:rPr sz="3450" b="0">
                <a:solidFill>
                  <a:srgbClr val="17343A"/>
                </a:solidFill>
                <a:latin typeface="Arial"/>
                <a:ea typeface="Arial"/>
                <a:cs typeface="Arial"/>
              </a:rPr>
              <a:t>What we can defend.</a:t>
            </a:r>
          </a:p>
        </p:txBody>
      </p:sp>
      <p:sp>
        <p:nvSpPr>
          <p:cNvPr id="2" name="">
            <a:extLst xmlns:a="http://schemas.openxmlformats.org/drawingml/2006/main">
              <a:ext uri="{FF2B5EF4-FFF2-40B4-BE49-F238E27FC236}">
                <a16:creationId xmlns:a16="http://schemas.microsoft.com/office/drawing/2014/main" id="{4C834C29-630B-4742-938B-34CD78525B79}"/>
              </a:ext>
            </a:extLst>
          </p:cNvPr>
          <p:cNvSpPr>
            <a:spLocks xmlns:a="http://schemas.openxmlformats.org/drawingml/2006/main" noGrp="1"/>
          </p:cNvSpPr>
          <p:nvPr/>
        </p:nvSpPr>
        <p:spPr>
          <a:xfrm xmlns:a="http://schemas.openxmlformats.org/drawingml/2006/main">
            <a:off x="723900" y="2076450"/>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343A"/>
                </a:solidFill>
                <a:latin typeface="Arial"/>
                <a:ea typeface="Arial"/>
                <a:cs typeface="Arial"/>
              </a:defRPr>
            </a:pPr>
            <a:r>
              <a:rPr sz="3000" b="0">
                <a:solidFill>
                  <a:srgbClr val="17343A"/>
                </a:solidFill>
                <a:latin typeface="Arial"/>
                <a:ea typeface="Arial"/>
                <a:cs typeface="Arial"/>
              </a:rPr>
              <a:t>77.02 vs 86.64</a:t>
            </a:r>
          </a:p>
        </p:txBody>
      </p:sp>
      <p:sp>
        <p:nvSpPr>
          <p:cNvPr id="3" name="">
            <a:extLst xmlns:a="http://schemas.openxmlformats.org/drawingml/2006/main">
              <a:ext uri="{FF2B5EF4-FFF2-40B4-BE49-F238E27FC236}">
                <a16:creationId xmlns:a16="http://schemas.microsoft.com/office/drawing/2014/main" id="{29046193-E5ED-4454-A7D2-7FECFA1A6881}"/>
              </a:ext>
            </a:extLst>
          </p:cNvPr>
          <p:cNvSpPr>
            <a:spLocks xmlns:a="http://schemas.openxmlformats.org/drawingml/2006/main" noGrp="1"/>
          </p:cNvSpPr>
          <p:nvPr/>
        </p:nvSpPr>
        <p:spPr>
          <a:xfrm xmlns:a="http://schemas.openxmlformats.org/drawingml/2006/main">
            <a:off x="723900" y="267652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6777A"/>
                </a:solidFill>
                <a:latin typeface="Arial"/>
                <a:ea typeface="Arial"/>
                <a:cs typeface="Arial"/>
              </a:defRPr>
            </a:pPr>
            <a:r>
              <a:rPr sz="1800" b="0">
                <a:solidFill>
                  <a:srgbClr val="66777A"/>
                </a:solidFill>
                <a:latin typeface="Arial"/>
                <a:ea typeface="Arial"/>
                <a:cs typeface="Arial"/>
              </a:rPr>
              <a:t>RBF / QSVR development MAE · ha/fire</a:t>
            </a:r>
          </a:p>
        </p:txBody>
      </p:sp>
      <p:sp>
        <p:nvSpPr>
          <p:cNvPr id="4" name="">
            <a:extLst xmlns:a="http://schemas.openxmlformats.org/drawingml/2006/main">
              <a:ext uri="{FF2B5EF4-FFF2-40B4-BE49-F238E27FC236}">
                <a16:creationId xmlns:a16="http://schemas.microsoft.com/office/drawing/2014/main" id="{8E867124-21C7-436F-9E8D-AEBBAD4EE70B}"/>
              </a:ext>
            </a:extLst>
          </p:cNvPr>
          <p:cNvSpPr>
            <a:spLocks xmlns:a="http://schemas.openxmlformats.org/drawingml/2006/main" noGrp="1"/>
          </p:cNvSpPr>
          <p:nvPr/>
        </p:nvSpPr>
        <p:spPr>
          <a:xfrm xmlns:a="http://schemas.openxmlformats.org/drawingml/2006/main">
            <a:off x="723900" y="3267075"/>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343A"/>
                </a:solidFill>
                <a:latin typeface="Arial"/>
                <a:ea typeface="Arial"/>
                <a:cs typeface="Arial"/>
              </a:defRPr>
            </a:pPr>
            <a:r>
              <a:rPr sz="3000" b="0">
                <a:solidFill>
                  <a:srgbClr val="17343A"/>
                </a:solidFill>
                <a:latin typeface="Arial"/>
                <a:ea typeface="Arial"/>
                <a:cs typeface="Arial"/>
              </a:rPr>
              <a:t>No later-year win.</a:t>
            </a:r>
          </a:p>
        </p:txBody>
      </p:sp>
      <p:sp>
        <p:nvSpPr>
          <p:cNvPr id="5" name="">
            <a:extLst xmlns:a="http://schemas.openxmlformats.org/drawingml/2006/main">
              <a:ext uri="{FF2B5EF4-FFF2-40B4-BE49-F238E27FC236}">
                <a16:creationId xmlns:a16="http://schemas.microsoft.com/office/drawing/2014/main" id="{3C694967-4EA4-4B7E-9C8B-920D48B2F846}"/>
              </a:ext>
            </a:extLst>
          </p:cNvPr>
          <p:cNvSpPr>
            <a:spLocks xmlns:a="http://schemas.openxmlformats.org/drawingml/2006/main" noGrp="1"/>
          </p:cNvSpPr>
          <p:nvPr/>
        </p:nvSpPr>
        <p:spPr>
          <a:xfrm xmlns:a="http://schemas.openxmlformats.org/drawingml/2006/main">
            <a:off x="723900" y="3867150"/>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6777A"/>
                </a:solidFill>
                <a:latin typeface="Arial"/>
                <a:ea typeface="Arial"/>
                <a:cs typeface="Arial"/>
              </a:defRPr>
            </a:pPr>
            <a:r>
              <a:rPr sz="1800" b="0">
                <a:solidFill>
                  <a:srgbClr val="66777A"/>
                </a:solidFill>
                <a:latin typeface="Arial"/>
                <a:ea typeface="Arial"/>
                <a:cs typeface="Arial"/>
              </a:rPr>
              <a:t>The training mean beats every main model.</a:t>
            </a:r>
          </a:p>
        </p:txBody>
      </p:sp>
      <p:sp>
        <p:nvSpPr>
          <p:cNvPr id="6" name="">
            <a:extLst xmlns:a="http://schemas.openxmlformats.org/drawingml/2006/main">
              <a:ext uri="{FF2B5EF4-FFF2-40B4-BE49-F238E27FC236}">
                <a16:creationId xmlns:a16="http://schemas.microsoft.com/office/drawing/2014/main" id="{D3EA8F83-07FF-47B8-99CA-27C0806DE0AC}"/>
              </a:ext>
            </a:extLst>
          </p:cNvPr>
          <p:cNvSpPr>
            <a:spLocks xmlns:a="http://schemas.openxmlformats.org/drawingml/2006/main" noGrp="1"/>
          </p:cNvSpPr>
          <p:nvPr/>
        </p:nvSpPr>
        <p:spPr>
          <a:xfrm xmlns:a="http://schemas.openxmlformats.org/drawingml/2006/main">
            <a:off x="723900" y="4457700"/>
            <a:ext cx="107442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000" b="0">
                <a:solidFill>
                  <a:srgbClr val="17343A"/>
                </a:solidFill>
                <a:latin typeface="Arial"/>
                <a:ea typeface="Arial"/>
                <a:cs typeface="Arial"/>
              </a:defRPr>
            </a:pPr>
            <a:r>
              <a:rPr sz="3000" b="0">
                <a:solidFill>
                  <a:srgbClr val="17343A"/>
                </a:solidFill>
                <a:latin typeface="Arial"/>
                <a:ea typeface="Arial"/>
                <a:cs typeface="Arial"/>
              </a:rPr>
              <a:t>Encoding matters.</a:t>
            </a:r>
          </a:p>
        </p:txBody>
      </p:sp>
      <p:sp>
        <p:nvSpPr>
          <p:cNvPr id="7" name="">
            <a:extLst xmlns:a="http://schemas.openxmlformats.org/drawingml/2006/main">
              <a:ext uri="{FF2B5EF4-FFF2-40B4-BE49-F238E27FC236}">
                <a16:creationId xmlns:a16="http://schemas.microsoft.com/office/drawing/2014/main" id="{51E86504-512D-444A-AA65-EE8352CD47DF}"/>
              </a:ext>
            </a:extLst>
          </p:cNvPr>
          <p:cNvSpPr>
            <a:spLocks xmlns:a="http://schemas.openxmlformats.org/drawingml/2006/main" noGrp="1"/>
          </p:cNvSpPr>
          <p:nvPr/>
        </p:nvSpPr>
        <p:spPr>
          <a:xfrm xmlns:a="http://schemas.openxmlformats.org/drawingml/2006/main">
            <a:off x="723900" y="5057775"/>
            <a:ext cx="10744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6777A"/>
                </a:solidFill>
                <a:latin typeface="Arial"/>
                <a:ea typeface="Arial"/>
                <a:cs typeface="Arial"/>
              </a:defRPr>
            </a:pPr>
            <a:r>
              <a:rPr sz="1800" b="0">
                <a:solidFill>
                  <a:srgbClr val="66777A"/>
                </a:solidFill>
                <a:latin typeface="Arial"/>
                <a:ea typeface="Arial"/>
                <a:cs typeface="Arial"/>
              </a:rPr>
              <a:t>Similarity changes with angle scale; skill is not guaranteed.</a:t>
            </a:r>
          </a:p>
        </p:txBody>
      </p:sp>
      <p:sp>
        <p:nvSpPr>
          <p:cNvPr id="8" name="">
            <a:extLst xmlns:a="http://schemas.openxmlformats.org/drawingml/2006/main">
              <a:ext uri="{FF2B5EF4-FFF2-40B4-BE49-F238E27FC236}">
                <a16:creationId xmlns:a16="http://schemas.microsoft.com/office/drawing/2014/main" id="{61EF896A-D094-4E7B-9EF5-4830B5E36896}"/>
              </a:ext>
            </a:extLst>
          </p:cNvPr>
          <p:cNvSpPr>
            <a:spLocks xmlns:a="http://schemas.openxmlformats.org/drawingml/2006/main" noGrp="1"/>
          </p:cNvSpPr>
          <p:nvPr/>
        </p:nvSpPr>
        <p:spPr>
          <a:xfrm xmlns:a="http://schemas.openxmlformats.org/drawingml/2006/main">
            <a:off x="723900" y="600075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Next: prospective targets, independent observations and raw/log-target controls.</a:t>
            </a:r>
          </a:p>
        </p:txBody>
      </p:sp>
    </p:spTree>
    <p:extLst>
      <p:ext uri="{BB962C8B-B14F-4D97-AF65-F5344CB8AC3E}">
        <p14:creationId xmlns:p14="http://schemas.microsoft.com/office/powerpoint/2010/main" val="126438906"/>
      </p:ext>
    </p:extLst>
  </p:cSld>
</p:sld>
</file>

<file path=ppt/slides/slide8.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C7DF6C71-89FB-4B32-A890-7DEB828F3A9A}"/>
              </a:ext>
            </a:extLst>
          </p:cNvPr>
          <p:cNvSpPr>
            <a:spLocks xmlns:a="http://schemas.openxmlformats.org/drawingml/2006/main" noGrp="1"/>
          </p:cNvSpPr>
          <p:nvPr/>
        </p:nvSpPr>
        <p:spPr>
          <a:xfrm xmlns:a="http://schemas.openxmlformats.org/drawingml/2006/main">
            <a:off x="723900" y="5905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343A"/>
                </a:solidFill>
                <a:latin typeface="Arial"/>
                <a:ea typeface="Arial"/>
                <a:cs typeface="Arial"/>
              </a:defRPr>
            </a:pPr>
            <a:r>
              <a:rPr sz="3450" b="0">
                <a:solidFill>
                  <a:srgbClr val="17343A"/>
                </a:solidFill>
                <a:latin typeface="Arial"/>
                <a:ea typeface="Arial"/>
                <a:cs typeface="Arial"/>
              </a:rPr>
              <a:t>Measurements → phases → similarities.</a:t>
            </a:r>
          </a:p>
        </p:txBody>
      </p:sp>
      <p:sp>
        <p:nvSpPr>
          <p:cNvPr id="2" name="">
            <a:extLst xmlns:a="http://schemas.openxmlformats.org/drawingml/2006/main">
              <a:ext uri="{FF2B5EF4-FFF2-40B4-BE49-F238E27FC236}">
                <a16:creationId xmlns:a16="http://schemas.microsoft.com/office/drawing/2014/main" id="{AECC5A4A-0023-493F-A059-43A27E563573}"/>
              </a:ext>
            </a:extLst>
          </p:cNvPr>
          <p:cNvSpPr>
            <a:spLocks xmlns:a="http://schemas.openxmlformats.org/drawingml/2006/main" noGrp="1"/>
          </p:cNvSpPr>
          <p:nvPr/>
        </p:nvSpPr>
        <p:spPr>
          <a:xfrm xmlns:a="http://schemas.openxmlformats.org/drawingml/2006/main">
            <a:off x="723900" y="2476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77A"/>
                </a:solidFill>
                <a:latin typeface="Arial"/>
                <a:ea typeface="Arial"/>
                <a:cs typeface="Arial"/>
              </a:defRPr>
            </a:pPr>
            <a:r>
              <a:rPr sz="1350" b="0">
                <a:solidFill>
                  <a:srgbClr val="66777A"/>
                </a:solidFill>
                <a:latin typeface="Arial"/>
                <a:ea typeface="Arial"/>
                <a:cs typeface="Arial"/>
              </a:rPr>
              <a:t>q0</a:t>
            </a:r>
          </a:p>
        </p:txBody>
      </p:sp>
      <p:sp>
        <p:nvSpPr>
          <p:cNvPr id="3" name="">
            <a:extLst xmlns:a="http://schemas.openxmlformats.org/drawingml/2006/main">
              <a:ext uri="{FF2B5EF4-FFF2-40B4-BE49-F238E27FC236}">
                <a16:creationId xmlns:a16="http://schemas.microsoft.com/office/drawing/2014/main" id="{8A7E2DF1-16AF-44C0-B071-8F889266E0C1}"/>
              </a:ext>
            </a:extLst>
          </p:cNvPr>
          <p:cNvSpPr>
            <a:spLocks xmlns:a="http://schemas.openxmlformats.org/drawingml/2006/main" noGrp="1"/>
          </p:cNvSpPr>
          <p:nvPr/>
        </p:nvSpPr>
        <p:spPr>
          <a:xfrm xmlns:a="http://schemas.openxmlformats.org/drawingml/2006/main">
            <a:off x="1095375" y="2571750"/>
            <a:ext cx="5191125" cy="0"/>
          </a:xfrm>
          <a:prstGeom xmlns:a="http://schemas.openxmlformats.org/drawingml/2006/main" prst="line">
            <a:avLst/>
          </a:prstGeom>
          <a:ln xmlns:a="http://schemas.openxmlformats.org/drawingml/2006/main" w="14288">
            <a:solidFill>
              <a:srgbClr val="B2BFB7"/>
            </a:solidFill>
          </a:ln>
        </p:spPr>
      </p:sp>
      <p:sp>
        <p:nvSpPr>
          <p:cNvPr id="4" name="">
            <a:extLst xmlns:a="http://schemas.openxmlformats.org/drawingml/2006/main">
              <a:ext uri="{FF2B5EF4-FFF2-40B4-BE49-F238E27FC236}">
                <a16:creationId xmlns:a16="http://schemas.microsoft.com/office/drawing/2014/main" id="{E08410EB-70FD-44CC-83F1-2F1D7689E510}"/>
              </a:ext>
            </a:extLst>
          </p:cNvPr>
          <p:cNvSpPr>
            <a:spLocks xmlns:a="http://schemas.openxmlformats.org/drawingml/2006/main" noGrp="1"/>
          </p:cNvSpPr>
          <p:nvPr/>
        </p:nvSpPr>
        <p:spPr>
          <a:xfrm xmlns:a="http://schemas.openxmlformats.org/drawingml/2006/main">
            <a:off x="1390650" y="2409825"/>
            <a:ext cx="42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747C"/>
                </a:solidFill>
                <a:latin typeface="Arial"/>
                <a:ea typeface="Arial"/>
                <a:cs typeface="Arial"/>
              </a:defRPr>
            </a:pPr>
            <a:r>
              <a:rPr sz="1725" b="0">
                <a:solidFill>
                  <a:srgbClr val="18747C"/>
                </a:solidFill>
                <a:latin typeface="Arial"/>
                <a:ea typeface="Arial"/>
                <a:cs typeface="Arial"/>
              </a:rPr>
              <a:t>H</a:t>
            </a:r>
          </a:p>
        </p:txBody>
      </p:sp>
      <p:sp>
        <p:nvSpPr>
          <p:cNvPr id="5" name="">
            <a:extLst xmlns:a="http://schemas.openxmlformats.org/drawingml/2006/main">
              <a:ext uri="{FF2B5EF4-FFF2-40B4-BE49-F238E27FC236}">
                <a16:creationId xmlns:a16="http://schemas.microsoft.com/office/drawing/2014/main" id="{C5A0AF7B-DF99-4594-9616-9D29163AA88D}"/>
              </a:ext>
            </a:extLst>
          </p:cNvPr>
          <p:cNvSpPr>
            <a:spLocks xmlns:a="http://schemas.openxmlformats.org/drawingml/2006/main" noGrp="1"/>
          </p:cNvSpPr>
          <p:nvPr/>
        </p:nvSpPr>
        <p:spPr>
          <a:xfrm xmlns:a="http://schemas.openxmlformats.org/drawingml/2006/main">
            <a:off x="2162175" y="2409825"/>
            <a:ext cx="104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747C"/>
                </a:solidFill>
                <a:latin typeface="Arial"/>
                <a:ea typeface="Arial"/>
                <a:cs typeface="Arial"/>
              </a:defRPr>
            </a:pPr>
            <a:r>
              <a:rPr sz="1725" b="0">
                <a:solidFill>
                  <a:srgbClr val="18747C"/>
                </a:solidFill>
                <a:latin typeface="Arial"/>
                <a:ea typeface="Arial"/>
                <a:cs typeface="Arial"/>
              </a:rPr>
              <a:t>P(2θ0)</a:t>
            </a:r>
          </a:p>
        </p:txBody>
      </p:sp>
      <p:sp>
        <p:nvSpPr>
          <p:cNvPr id="6" name="">
            <a:extLst xmlns:a="http://schemas.openxmlformats.org/drawingml/2006/main">
              <a:ext uri="{FF2B5EF4-FFF2-40B4-BE49-F238E27FC236}">
                <a16:creationId xmlns:a16="http://schemas.microsoft.com/office/drawing/2014/main" id="{9A254547-CCE7-4889-ACCE-3DF57EA7E329}"/>
              </a:ext>
            </a:extLst>
          </p:cNvPr>
          <p:cNvSpPr>
            <a:spLocks xmlns:a="http://schemas.openxmlformats.org/drawingml/2006/main" noGrp="1"/>
          </p:cNvSpPr>
          <p:nvPr/>
        </p:nvSpPr>
        <p:spPr>
          <a:xfrm xmlns:a="http://schemas.openxmlformats.org/drawingml/2006/main">
            <a:off x="3914775" y="2571750"/>
            <a:ext cx="0" cy="619125"/>
          </a:xfrm>
          <a:prstGeom xmlns:a="http://schemas.openxmlformats.org/drawingml/2006/main" prst="line">
            <a:avLst/>
          </a:prstGeom>
          <a:ln xmlns:a="http://schemas.openxmlformats.org/drawingml/2006/main" w="23813">
            <a:solidFill>
              <a:srgbClr val="18747C"/>
            </a:solidFill>
          </a:ln>
        </p:spPr>
      </p:sp>
      <p:sp>
        <p:nvSpPr>
          <p:cNvPr id="7" name="">
            <a:extLst xmlns:a="http://schemas.openxmlformats.org/drawingml/2006/main">
              <a:ext uri="{FF2B5EF4-FFF2-40B4-BE49-F238E27FC236}">
                <a16:creationId xmlns:a16="http://schemas.microsoft.com/office/drawing/2014/main" id="{6C733EDA-629E-4269-ACEB-8C17982E8BCA}"/>
              </a:ext>
            </a:extLst>
          </p:cNvPr>
          <p:cNvSpPr>
            <a:spLocks xmlns:a="http://schemas.openxmlformats.org/drawingml/2006/main" noGrp="1"/>
          </p:cNvSpPr>
          <p:nvPr/>
        </p:nvSpPr>
        <p:spPr>
          <a:xfrm xmlns:a="http://schemas.openxmlformats.org/drawingml/2006/main">
            <a:off x="3876675" y="2533650"/>
            <a:ext cx="76200" cy="76200"/>
          </a:xfrm>
          <a:prstGeom xmlns:a="http://schemas.openxmlformats.org/drawingml/2006/main" prst="ellipse">
            <a:avLst/>
          </a:prstGeom>
          <a:solidFill xmlns:a="http://schemas.openxmlformats.org/drawingml/2006/main">
            <a:srgbClr val="18747C"/>
          </a:solidFill>
          <a:ln xmlns:a="http://schemas.openxmlformats.org/drawingml/2006/main" w="9525">
            <a:solidFill>
              <a:srgbClr val="18747C"/>
            </a:solidFill>
          </a:ln>
        </p:spPr>
      </p:sp>
      <p:sp>
        <p:nvSpPr>
          <p:cNvPr id="8" name="">
            <a:extLst xmlns:a="http://schemas.openxmlformats.org/drawingml/2006/main">
              <a:ext uri="{FF2B5EF4-FFF2-40B4-BE49-F238E27FC236}">
                <a16:creationId xmlns:a16="http://schemas.microsoft.com/office/drawing/2014/main" id="{29472EAF-9E38-4F10-8BD7-1409A63DC435}"/>
              </a:ext>
            </a:extLst>
          </p:cNvPr>
          <p:cNvSpPr>
            <a:spLocks xmlns:a="http://schemas.openxmlformats.org/drawingml/2006/main" noGrp="1"/>
          </p:cNvSpPr>
          <p:nvPr/>
        </p:nvSpPr>
        <p:spPr>
          <a:xfrm xmlns:a="http://schemas.openxmlformats.org/drawingml/2006/main">
            <a:off x="3876675" y="3152775"/>
            <a:ext cx="76200" cy="76200"/>
          </a:xfrm>
          <a:prstGeom xmlns:a="http://schemas.openxmlformats.org/drawingml/2006/main" prst="ellipse">
            <a:avLst/>
          </a:prstGeom>
          <a:solidFill xmlns:a="http://schemas.openxmlformats.org/drawingml/2006/main">
            <a:srgbClr val="18747C"/>
          </a:solidFill>
          <a:ln xmlns:a="http://schemas.openxmlformats.org/drawingml/2006/main" w="9525">
            <a:solidFill>
              <a:srgbClr val="18747C"/>
            </a:solidFill>
          </a:ln>
        </p:spPr>
      </p:sp>
      <p:sp>
        <p:nvSpPr>
          <p:cNvPr id="9" name="">
            <a:extLst xmlns:a="http://schemas.openxmlformats.org/drawingml/2006/main">
              <a:ext uri="{FF2B5EF4-FFF2-40B4-BE49-F238E27FC236}">
                <a16:creationId xmlns:a16="http://schemas.microsoft.com/office/drawing/2014/main" id="{5BDB4CBD-12B9-4827-9F6E-63950AC095EA}"/>
              </a:ext>
            </a:extLst>
          </p:cNvPr>
          <p:cNvSpPr>
            <a:spLocks xmlns:a="http://schemas.openxmlformats.org/drawingml/2006/main" noGrp="1"/>
          </p:cNvSpPr>
          <p:nvPr/>
        </p:nvSpPr>
        <p:spPr>
          <a:xfrm xmlns:a="http://schemas.openxmlformats.org/drawingml/2006/main">
            <a:off x="4010025" y="276225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747C"/>
                </a:solidFill>
                <a:latin typeface="Arial"/>
                <a:ea typeface="Arial"/>
                <a:cs typeface="Arial"/>
              </a:defRPr>
            </a:pPr>
            <a:r>
              <a:rPr sz="1350" b="0">
                <a:solidFill>
                  <a:srgbClr val="18747C"/>
                </a:solidFill>
                <a:latin typeface="Arial"/>
                <a:ea typeface="Arial"/>
                <a:cs typeface="Arial"/>
              </a:rPr>
              <a:t>ZZ</a:t>
            </a:r>
          </a:p>
        </p:txBody>
      </p:sp>
      <p:sp>
        <p:nvSpPr>
          <p:cNvPr id="10" name="">
            <a:extLst xmlns:a="http://schemas.openxmlformats.org/drawingml/2006/main">
              <a:ext uri="{FF2B5EF4-FFF2-40B4-BE49-F238E27FC236}">
                <a16:creationId xmlns:a16="http://schemas.microsoft.com/office/drawing/2014/main" id="{28A3BA3C-DAD5-4272-9647-7549A5569201}"/>
              </a:ext>
            </a:extLst>
          </p:cNvPr>
          <p:cNvSpPr>
            <a:spLocks xmlns:a="http://schemas.openxmlformats.org/drawingml/2006/main" noGrp="1"/>
          </p:cNvSpPr>
          <p:nvPr/>
        </p:nvSpPr>
        <p:spPr>
          <a:xfrm xmlns:a="http://schemas.openxmlformats.org/drawingml/2006/main">
            <a:off x="723900" y="309562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77A"/>
                </a:solidFill>
                <a:latin typeface="Arial"/>
                <a:ea typeface="Arial"/>
                <a:cs typeface="Arial"/>
              </a:defRPr>
            </a:pPr>
            <a:r>
              <a:rPr sz="1350" b="0">
                <a:solidFill>
                  <a:srgbClr val="66777A"/>
                </a:solidFill>
                <a:latin typeface="Arial"/>
                <a:ea typeface="Arial"/>
                <a:cs typeface="Arial"/>
              </a:rPr>
              <a:t>q1</a:t>
            </a:r>
          </a:p>
        </p:txBody>
      </p:sp>
      <p:sp>
        <p:nvSpPr>
          <p:cNvPr id="11" name="">
            <a:extLst xmlns:a="http://schemas.openxmlformats.org/drawingml/2006/main">
              <a:ext uri="{FF2B5EF4-FFF2-40B4-BE49-F238E27FC236}">
                <a16:creationId xmlns:a16="http://schemas.microsoft.com/office/drawing/2014/main" id="{012B3A94-869D-4983-9CC1-6AADBE54FF60}"/>
              </a:ext>
            </a:extLst>
          </p:cNvPr>
          <p:cNvSpPr>
            <a:spLocks xmlns:a="http://schemas.openxmlformats.org/drawingml/2006/main" noGrp="1"/>
          </p:cNvSpPr>
          <p:nvPr/>
        </p:nvSpPr>
        <p:spPr>
          <a:xfrm xmlns:a="http://schemas.openxmlformats.org/drawingml/2006/main">
            <a:off x="1095375" y="3190875"/>
            <a:ext cx="5191125" cy="0"/>
          </a:xfrm>
          <a:prstGeom xmlns:a="http://schemas.openxmlformats.org/drawingml/2006/main" prst="line">
            <a:avLst/>
          </a:prstGeom>
          <a:ln xmlns:a="http://schemas.openxmlformats.org/drawingml/2006/main" w="14288">
            <a:solidFill>
              <a:srgbClr val="B2BFB7"/>
            </a:solidFill>
          </a:ln>
        </p:spPr>
      </p:sp>
      <p:sp>
        <p:nvSpPr>
          <p:cNvPr id="12" name="">
            <a:extLst xmlns:a="http://schemas.openxmlformats.org/drawingml/2006/main">
              <a:ext uri="{FF2B5EF4-FFF2-40B4-BE49-F238E27FC236}">
                <a16:creationId xmlns:a16="http://schemas.microsoft.com/office/drawing/2014/main" id="{3CD226A0-A477-4AE1-8C65-123661B45726}"/>
              </a:ext>
            </a:extLst>
          </p:cNvPr>
          <p:cNvSpPr>
            <a:spLocks xmlns:a="http://schemas.openxmlformats.org/drawingml/2006/main" noGrp="1"/>
          </p:cNvSpPr>
          <p:nvPr/>
        </p:nvSpPr>
        <p:spPr>
          <a:xfrm xmlns:a="http://schemas.openxmlformats.org/drawingml/2006/main">
            <a:off x="1390650" y="3028950"/>
            <a:ext cx="42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747C"/>
                </a:solidFill>
                <a:latin typeface="Arial"/>
                <a:ea typeface="Arial"/>
                <a:cs typeface="Arial"/>
              </a:defRPr>
            </a:pPr>
            <a:r>
              <a:rPr sz="1725" b="0">
                <a:solidFill>
                  <a:srgbClr val="18747C"/>
                </a:solidFill>
                <a:latin typeface="Arial"/>
                <a:ea typeface="Arial"/>
                <a:cs typeface="Arial"/>
              </a:rPr>
              <a:t>H</a:t>
            </a:r>
          </a:p>
        </p:txBody>
      </p:sp>
      <p:sp>
        <p:nvSpPr>
          <p:cNvPr id="13" name="">
            <a:extLst xmlns:a="http://schemas.openxmlformats.org/drawingml/2006/main">
              <a:ext uri="{FF2B5EF4-FFF2-40B4-BE49-F238E27FC236}">
                <a16:creationId xmlns:a16="http://schemas.microsoft.com/office/drawing/2014/main" id="{0DB18A76-7FC1-4A07-92FF-EFACD9962311}"/>
              </a:ext>
            </a:extLst>
          </p:cNvPr>
          <p:cNvSpPr>
            <a:spLocks xmlns:a="http://schemas.openxmlformats.org/drawingml/2006/main" noGrp="1"/>
          </p:cNvSpPr>
          <p:nvPr/>
        </p:nvSpPr>
        <p:spPr>
          <a:xfrm xmlns:a="http://schemas.openxmlformats.org/drawingml/2006/main">
            <a:off x="2162175" y="3028950"/>
            <a:ext cx="104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747C"/>
                </a:solidFill>
                <a:latin typeface="Arial"/>
                <a:ea typeface="Arial"/>
                <a:cs typeface="Arial"/>
              </a:defRPr>
            </a:pPr>
            <a:r>
              <a:rPr sz="1725" b="0">
                <a:solidFill>
                  <a:srgbClr val="18747C"/>
                </a:solidFill>
                <a:latin typeface="Arial"/>
                <a:ea typeface="Arial"/>
                <a:cs typeface="Arial"/>
              </a:rPr>
              <a:t>P(2θ1)</a:t>
            </a:r>
          </a:p>
        </p:txBody>
      </p:sp>
      <p:sp>
        <p:nvSpPr>
          <p:cNvPr id="14" name="">
            <a:extLst xmlns:a="http://schemas.openxmlformats.org/drawingml/2006/main">
              <a:ext uri="{FF2B5EF4-FFF2-40B4-BE49-F238E27FC236}">
                <a16:creationId xmlns:a16="http://schemas.microsoft.com/office/drawing/2014/main" id="{9FAA0414-75AB-4F5D-AAD0-868477363FF1}"/>
              </a:ext>
            </a:extLst>
          </p:cNvPr>
          <p:cNvSpPr>
            <a:spLocks xmlns:a="http://schemas.openxmlformats.org/drawingml/2006/main" noGrp="1"/>
          </p:cNvSpPr>
          <p:nvPr/>
        </p:nvSpPr>
        <p:spPr>
          <a:xfrm xmlns:a="http://schemas.openxmlformats.org/drawingml/2006/main">
            <a:off x="4724400" y="3190875"/>
            <a:ext cx="0" cy="619125"/>
          </a:xfrm>
          <a:prstGeom xmlns:a="http://schemas.openxmlformats.org/drawingml/2006/main" prst="line">
            <a:avLst/>
          </a:prstGeom>
          <a:ln xmlns:a="http://schemas.openxmlformats.org/drawingml/2006/main" w="23813">
            <a:solidFill>
              <a:srgbClr val="18747C"/>
            </a:solidFill>
          </a:ln>
        </p:spPr>
      </p:sp>
      <p:sp>
        <p:nvSpPr>
          <p:cNvPr id="15" name="">
            <a:extLst xmlns:a="http://schemas.openxmlformats.org/drawingml/2006/main">
              <a:ext uri="{FF2B5EF4-FFF2-40B4-BE49-F238E27FC236}">
                <a16:creationId xmlns:a16="http://schemas.microsoft.com/office/drawing/2014/main" id="{51CE69FB-24D1-4ACF-B2BB-036BE83E0A0F}"/>
              </a:ext>
            </a:extLst>
          </p:cNvPr>
          <p:cNvSpPr>
            <a:spLocks xmlns:a="http://schemas.openxmlformats.org/drawingml/2006/main" noGrp="1"/>
          </p:cNvSpPr>
          <p:nvPr/>
        </p:nvSpPr>
        <p:spPr>
          <a:xfrm xmlns:a="http://schemas.openxmlformats.org/drawingml/2006/main">
            <a:off x="4686300" y="3152775"/>
            <a:ext cx="76200" cy="76200"/>
          </a:xfrm>
          <a:prstGeom xmlns:a="http://schemas.openxmlformats.org/drawingml/2006/main" prst="ellipse">
            <a:avLst/>
          </a:prstGeom>
          <a:solidFill xmlns:a="http://schemas.openxmlformats.org/drawingml/2006/main">
            <a:srgbClr val="18747C"/>
          </a:solidFill>
          <a:ln xmlns:a="http://schemas.openxmlformats.org/drawingml/2006/main" w="9525">
            <a:solidFill>
              <a:srgbClr val="18747C"/>
            </a:solidFill>
          </a:ln>
        </p:spPr>
      </p:sp>
      <p:sp>
        <p:nvSpPr>
          <p:cNvPr id="16" name="">
            <a:extLst xmlns:a="http://schemas.openxmlformats.org/drawingml/2006/main">
              <a:ext uri="{FF2B5EF4-FFF2-40B4-BE49-F238E27FC236}">
                <a16:creationId xmlns:a16="http://schemas.microsoft.com/office/drawing/2014/main" id="{A63A423C-363D-4741-9DC5-C1BA1198A8C8}"/>
              </a:ext>
            </a:extLst>
          </p:cNvPr>
          <p:cNvSpPr>
            <a:spLocks xmlns:a="http://schemas.openxmlformats.org/drawingml/2006/main" noGrp="1"/>
          </p:cNvSpPr>
          <p:nvPr/>
        </p:nvSpPr>
        <p:spPr>
          <a:xfrm xmlns:a="http://schemas.openxmlformats.org/drawingml/2006/main">
            <a:off x="4686300" y="3771900"/>
            <a:ext cx="76200" cy="76200"/>
          </a:xfrm>
          <a:prstGeom xmlns:a="http://schemas.openxmlformats.org/drawingml/2006/main" prst="ellipse">
            <a:avLst/>
          </a:prstGeom>
          <a:solidFill xmlns:a="http://schemas.openxmlformats.org/drawingml/2006/main">
            <a:srgbClr val="18747C"/>
          </a:solidFill>
          <a:ln xmlns:a="http://schemas.openxmlformats.org/drawingml/2006/main" w="9525">
            <a:solidFill>
              <a:srgbClr val="18747C"/>
            </a:solidFill>
          </a:ln>
        </p:spPr>
      </p:sp>
      <p:sp>
        <p:nvSpPr>
          <p:cNvPr id="17" name="">
            <a:extLst xmlns:a="http://schemas.openxmlformats.org/drawingml/2006/main">
              <a:ext uri="{FF2B5EF4-FFF2-40B4-BE49-F238E27FC236}">
                <a16:creationId xmlns:a16="http://schemas.microsoft.com/office/drawing/2014/main" id="{7AFE6ED5-404F-45A5-8737-663720CDF7F1}"/>
              </a:ext>
            </a:extLst>
          </p:cNvPr>
          <p:cNvSpPr>
            <a:spLocks xmlns:a="http://schemas.openxmlformats.org/drawingml/2006/main" noGrp="1"/>
          </p:cNvSpPr>
          <p:nvPr/>
        </p:nvSpPr>
        <p:spPr>
          <a:xfrm xmlns:a="http://schemas.openxmlformats.org/drawingml/2006/main">
            <a:off x="4819650" y="3381375"/>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747C"/>
                </a:solidFill>
                <a:latin typeface="Arial"/>
                <a:ea typeface="Arial"/>
                <a:cs typeface="Arial"/>
              </a:defRPr>
            </a:pPr>
            <a:r>
              <a:rPr sz="1350" b="0">
                <a:solidFill>
                  <a:srgbClr val="18747C"/>
                </a:solidFill>
                <a:latin typeface="Arial"/>
                <a:ea typeface="Arial"/>
                <a:cs typeface="Arial"/>
              </a:rPr>
              <a:t>ZZ</a:t>
            </a:r>
          </a:p>
        </p:txBody>
      </p:sp>
      <p:sp>
        <p:nvSpPr>
          <p:cNvPr id="18" name="">
            <a:extLst xmlns:a="http://schemas.openxmlformats.org/drawingml/2006/main">
              <a:ext uri="{FF2B5EF4-FFF2-40B4-BE49-F238E27FC236}">
                <a16:creationId xmlns:a16="http://schemas.microsoft.com/office/drawing/2014/main" id="{FAB131B4-D48F-41C8-A0E2-F58DB7BBA6B8}"/>
              </a:ext>
            </a:extLst>
          </p:cNvPr>
          <p:cNvSpPr>
            <a:spLocks xmlns:a="http://schemas.openxmlformats.org/drawingml/2006/main" noGrp="1"/>
          </p:cNvSpPr>
          <p:nvPr/>
        </p:nvSpPr>
        <p:spPr>
          <a:xfrm xmlns:a="http://schemas.openxmlformats.org/drawingml/2006/main">
            <a:off x="723900" y="371475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77A"/>
                </a:solidFill>
                <a:latin typeface="Arial"/>
                <a:ea typeface="Arial"/>
                <a:cs typeface="Arial"/>
              </a:defRPr>
            </a:pPr>
            <a:r>
              <a:rPr sz="1350" b="0">
                <a:solidFill>
                  <a:srgbClr val="66777A"/>
                </a:solidFill>
                <a:latin typeface="Arial"/>
                <a:ea typeface="Arial"/>
                <a:cs typeface="Arial"/>
              </a:rPr>
              <a:t>q2</a:t>
            </a:r>
          </a:p>
        </p:txBody>
      </p:sp>
      <p:sp>
        <p:nvSpPr>
          <p:cNvPr id="19" name="">
            <a:extLst xmlns:a="http://schemas.openxmlformats.org/drawingml/2006/main">
              <a:ext uri="{FF2B5EF4-FFF2-40B4-BE49-F238E27FC236}">
                <a16:creationId xmlns:a16="http://schemas.microsoft.com/office/drawing/2014/main" id="{15F80B80-291D-4122-ABC7-EB20AC32B0FB}"/>
              </a:ext>
            </a:extLst>
          </p:cNvPr>
          <p:cNvSpPr>
            <a:spLocks xmlns:a="http://schemas.openxmlformats.org/drawingml/2006/main" noGrp="1"/>
          </p:cNvSpPr>
          <p:nvPr/>
        </p:nvSpPr>
        <p:spPr>
          <a:xfrm xmlns:a="http://schemas.openxmlformats.org/drawingml/2006/main">
            <a:off x="1095375" y="3810000"/>
            <a:ext cx="5191125" cy="0"/>
          </a:xfrm>
          <a:prstGeom xmlns:a="http://schemas.openxmlformats.org/drawingml/2006/main" prst="line">
            <a:avLst/>
          </a:prstGeom>
          <a:ln xmlns:a="http://schemas.openxmlformats.org/drawingml/2006/main" w="14288">
            <a:solidFill>
              <a:srgbClr val="B2BFB7"/>
            </a:solidFill>
          </a:ln>
        </p:spPr>
      </p:sp>
      <p:sp>
        <p:nvSpPr>
          <p:cNvPr id="20" name="">
            <a:extLst xmlns:a="http://schemas.openxmlformats.org/drawingml/2006/main">
              <a:ext uri="{FF2B5EF4-FFF2-40B4-BE49-F238E27FC236}">
                <a16:creationId xmlns:a16="http://schemas.microsoft.com/office/drawing/2014/main" id="{BF14865A-3DD2-40F5-A083-5B88D4D70083}"/>
              </a:ext>
            </a:extLst>
          </p:cNvPr>
          <p:cNvSpPr>
            <a:spLocks xmlns:a="http://schemas.openxmlformats.org/drawingml/2006/main" noGrp="1"/>
          </p:cNvSpPr>
          <p:nvPr/>
        </p:nvSpPr>
        <p:spPr>
          <a:xfrm xmlns:a="http://schemas.openxmlformats.org/drawingml/2006/main">
            <a:off x="1390650" y="3648075"/>
            <a:ext cx="42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747C"/>
                </a:solidFill>
                <a:latin typeface="Arial"/>
                <a:ea typeface="Arial"/>
                <a:cs typeface="Arial"/>
              </a:defRPr>
            </a:pPr>
            <a:r>
              <a:rPr sz="1725" b="0">
                <a:solidFill>
                  <a:srgbClr val="18747C"/>
                </a:solidFill>
                <a:latin typeface="Arial"/>
                <a:ea typeface="Arial"/>
                <a:cs typeface="Arial"/>
              </a:rPr>
              <a:t>H</a:t>
            </a:r>
          </a:p>
        </p:txBody>
      </p:sp>
      <p:sp>
        <p:nvSpPr>
          <p:cNvPr id="21" name="">
            <a:extLst xmlns:a="http://schemas.openxmlformats.org/drawingml/2006/main">
              <a:ext uri="{FF2B5EF4-FFF2-40B4-BE49-F238E27FC236}">
                <a16:creationId xmlns:a16="http://schemas.microsoft.com/office/drawing/2014/main" id="{6EDFA1EA-9192-4EBE-B9F6-9071DD95973A}"/>
              </a:ext>
            </a:extLst>
          </p:cNvPr>
          <p:cNvSpPr>
            <a:spLocks xmlns:a="http://schemas.openxmlformats.org/drawingml/2006/main" noGrp="1"/>
          </p:cNvSpPr>
          <p:nvPr/>
        </p:nvSpPr>
        <p:spPr>
          <a:xfrm xmlns:a="http://schemas.openxmlformats.org/drawingml/2006/main">
            <a:off x="2162175" y="3648075"/>
            <a:ext cx="104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747C"/>
                </a:solidFill>
                <a:latin typeface="Arial"/>
                <a:ea typeface="Arial"/>
                <a:cs typeface="Arial"/>
              </a:defRPr>
            </a:pPr>
            <a:r>
              <a:rPr sz="1725" b="0">
                <a:solidFill>
                  <a:srgbClr val="18747C"/>
                </a:solidFill>
                <a:latin typeface="Arial"/>
                <a:ea typeface="Arial"/>
                <a:cs typeface="Arial"/>
              </a:rPr>
              <a:t>P(2θ2)</a:t>
            </a:r>
          </a:p>
        </p:txBody>
      </p:sp>
      <p:sp>
        <p:nvSpPr>
          <p:cNvPr id="22" name="">
            <a:extLst xmlns:a="http://schemas.openxmlformats.org/drawingml/2006/main">
              <a:ext uri="{FF2B5EF4-FFF2-40B4-BE49-F238E27FC236}">
                <a16:creationId xmlns:a16="http://schemas.microsoft.com/office/drawing/2014/main" id="{FF68FD1A-7478-4D60-B88C-491C7B58BED9}"/>
              </a:ext>
            </a:extLst>
          </p:cNvPr>
          <p:cNvSpPr>
            <a:spLocks xmlns:a="http://schemas.openxmlformats.org/drawingml/2006/main" noGrp="1"/>
          </p:cNvSpPr>
          <p:nvPr/>
        </p:nvSpPr>
        <p:spPr>
          <a:xfrm xmlns:a="http://schemas.openxmlformats.org/drawingml/2006/main">
            <a:off x="5534025" y="3810000"/>
            <a:ext cx="0" cy="619125"/>
          </a:xfrm>
          <a:prstGeom xmlns:a="http://schemas.openxmlformats.org/drawingml/2006/main" prst="line">
            <a:avLst/>
          </a:prstGeom>
          <a:ln xmlns:a="http://schemas.openxmlformats.org/drawingml/2006/main" w="23813">
            <a:solidFill>
              <a:srgbClr val="18747C"/>
            </a:solidFill>
          </a:ln>
        </p:spPr>
      </p:sp>
      <p:sp>
        <p:nvSpPr>
          <p:cNvPr id="23" name="">
            <a:extLst xmlns:a="http://schemas.openxmlformats.org/drawingml/2006/main">
              <a:ext uri="{FF2B5EF4-FFF2-40B4-BE49-F238E27FC236}">
                <a16:creationId xmlns:a16="http://schemas.microsoft.com/office/drawing/2014/main" id="{F907F220-24DA-46A7-A7EE-ADA5BCC5BA5A}"/>
              </a:ext>
            </a:extLst>
          </p:cNvPr>
          <p:cNvSpPr>
            <a:spLocks xmlns:a="http://schemas.openxmlformats.org/drawingml/2006/main" noGrp="1"/>
          </p:cNvSpPr>
          <p:nvPr/>
        </p:nvSpPr>
        <p:spPr>
          <a:xfrm xmlns:a="http://schemas.openxmlformats.org/drawingml/2006/main">
            <a:off x="5495925" y="3771900"/>
            <a:ext cx="76200" cy="76200"/>
          </a:xfrm>
          <a:prstGeom xmlns:a="http://schemas.openxmlformats.org/drawingml/2006/main" prst="ellipse">
            <a:avLst/>
          </a:prstGeom>
          <a:solidFill xmlns:a="http://schemas.openxmlformats.org/drawingml/2006/main">
            <a:srgbClr val="18747C"/>
          </a:solidFill>
          <a:ln xmlns:a="http://schemas.openxmlformats.org/drawingml/2006/main" w="9525">
            <a:solidFill>
              <a:srgbClr val="18747C"/>
            </a:solidFill>
          </a:ln>
        </p:spPr>
      </p:sp>
      <p:sp>
        <p:nvSpPr>
          <p:cNvPr id="24" name="">
            <a:extLst xmlns:a="http://schemas.openxmlformats.org/drawingml/2006/main">
              <a:ext uri="{FF2B5EF4-FFF2-40B4-BE49-F238E27FC236}">
                <a16:creationId xmlns:a16="http://schemas.microsoft.com/office/drawing/2014/main" id="{8127E08E-FBD8-439D-A5C6-646917C4ADFB}"/>
              </a:ext>
            </a:extLst>
          </p:cNvPr>
          <p:cNvSpPr>
            <a:spLocks xmlns:a="http://schemas.openxmlformats.org/drawingml/2006/main" noGrp="1"/>
          </p:cNvSpPr>
          <p:nvPr/>
        </p:nvSpPr>
        <p:spPr>
          <a:xfrm xmlns:a="http://schemas.openxmlformats.org/drawingml/2006/main">
            <a:off x="5495925" y="4391025"/>
            <a:ext cx="76200" cy="76200"/>
          </a:xfrm>
          <a:prstGeom xmlns:a="http://schemas.openxmlformats.org/drawingml/2006/main" prst="ellipse">
            <a:avLst/>
          </a:prstGeom>
          <a:solidFill xmlns:a="http://schemas.openxmlformats.org/drawingml/2006/main">
            <a:srgbClr val="18747C"/>
          </a:solidFill>
          <a:ln xmlns:a="http://schemas.openxmlformats.org/drawingml/2006/main" w="9525">
            <a:solidFill>
              <a:srgbClr val="18747C"/>
            </a:solidFill>
          </a:ln>
        </p:spPr>
      </p:sp>
      <p:sp>
        <p:nvSpPr>
          <p:cNvPr id="25" name="">
            <a:extLst xmlns:a="http://schemas.openxmlformats.org/drawingml/2006/main">
              <a:ext uri="{FF2B5EF4-FFF2-40B4-BE49-F238E27FC236}">
                <a16:creationId xmlns:a16="http://schemas.microsoft.com/office/drawing/2014/main" id="{02250E8C-71D4-4F1D-B1AD-18E4A7E14418}"/>
              </a:ext>
            </a:extLst>
          </p:cNvPr>
          <p:cNvSpPr>
            <a:spLocks xmlns:a="http://schemas.openxmlformats.org/drawingml/2006/main" noGrp="1"/>
          </p:cNvSpPr>
          <p:nvPr/>
        </p:nvSpPr>
        <p:spPr>
          <a:xfrm xmlns:a="http://schemas.openxmlformats.org/drawingml/2006/main">
            <a:off x="5629275" y="4000500"/>
            <a:ext cx="428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8747C"/>
                </a:solidFill>
                <a:latin typeface="Arial"/>
                <a:ea typeface="Arial"/>
                <a:cs typeface="Arial"/>
              </a:defRPr>
            </a:pPr>
            <a:r>
              <a:rPr sz="1350" b="0">
                <a:solidFill>
                  <a:srgbClr val="18747C"/>
                </a:solidFill>
                <a:latin typeface="Arial"/>
                <a:ea typeface="Arial"/>
                <a:cs typeface="Arial"/>
              </a:rPr>
              <a:t>ZZ</a:t>
            </a:r>
          </a:p>
        </p:txBody>
      </p:sp>
      <p:sp>
        <p:nvSpPr>
          <p:cNvPr id="26" name="">
            <a:extLst xmlns:a="http://schemas.openxmlformats.org/drawingml/2006/main">
              <a:ext uri="{FF2B5EF4-FFF2-40B4-BE49-F238E27FC236}">
                <a16:creationId xmlns:a16="http://schemas.microsoft.com/office/drawing/2014/main" id="{29231700-00F7-4A28-84DA-CCEC88F8B794}"/>
              </a:ext>
            </a:extLst>
          </p:cNvPr>
          <p:cNvSpPr>
            <a:spLocks xmlns:a="http://schemas.openxmlformats.org/drawingml/2006/main" noGrp="1"/>
          </p:cNvSpPr>
          <p:nvPr/>
        </p:nvSpPr>
        <p:spPr>
          <a:xfrm xmlns:a="http://schemas.openxmlformats.org/drawingml/2006/main">
            <a:off x="723900" y="4333875"/>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6777A"/>
                </a:solidFill>
                <a:latin typeface="Arial"/>
                <a:ea typeface="Arial"/>
                <a:cs typeface="Arial"/>
              </a:defRPr>
            </a:pPr>
            <a:r>
              <a:rPr sz="1350" b="0">
                <a:solidFill>
                  <a:srgbClr val="66777A"/>
                </a:solidFill>
                <a:latin typeface="Arial"/>
                <a:ea typeface="Arial"/>
                <a:cs typeface="Arial"/>
              </a:rPr>
              <a:t>q3</a:t>
            </a:r>
          </a:p>
        </p:txBody>
      </p:sp>
      <p:sp>
        <p:nvSpPr>
          <p:cNvPr id="27" name="">
            <a:extLst xmlns:a="http://schemas.openxmlformats.org/drawingml/2006/main">
              <a:ext uri="{FF2B5EF4-FFF2-40B4-BE49-F238E27FC236}">
                <a16:creationId xmlns:a16="http://schemas.microsoft.com/office/drawing/2014/main" id="{B07336FE-A470-4E10-B1D4-E8EF5798BFD8}"/>
              </a:ext>
            </a:extLst>
          </p:cNvPr>
          <p:cNvSpPr>
            <a:spLocks xmlns:a="http://schemas.openxmlformats.org/drawingml/2006/main" noGrp="1"/>
          </p:cNvSpPr>
          <p:nvPr/>
        </p:nvSpPr>
        <p:spPr>
          <a:xfrm xmlns:a="http://schemas.openxmlformats.org/drawingml/2006/main">
            <a:off x="1095375" y="4429125"/>
            <a:ext cx="5191125" cy="0"/>
          </a:xfrm>
          <a:prstGeom xmlns:a="http://schemas.openxmlformats.org/drawingml/2006/main" prst="line">
            <a:avLst/>
          </a:prstGeom>
          <a:ln xmlns:a="http://schemas.openxmlformats.org/drawingml/2006/main" w="14288">
            <a:solidFill>
              <a:srgbClr val="B2BFB7"/>
            </a:solidFill>
          </a:ln>
        </p:spPr>
      </p:sp>
      <p:sp>
        <p:nvSpPr>
          <p:cNvPr id="28" name="">
            <a:extLst xmlns:a="http://schemas.openxmlformats.org/drawingml/2006/main">
              <a:ext uri="{FF2B5EF4-FFF2-40B4-BE49-F238E27FC236}">
                <a16:creationId xmlns:a16="http://schemas.microsoft.com/office/drawing/2014/main" id="{A79C706B-0136-4D1A-9E52-980AA3EC1B57}"/>
              </a:ext>
            </a:extLst>
          </p:cNvPr>
          <p:cNvSpPr>
            <a:spLocks xmlns:a="http://schemas.openxmlformats.org/drawingml/2006/main" noGrp="1"/>
          </p:cNvSpPr>
          <p:nvPr/>
        </p:nvSpPr>
        <p:spPr>
          <a:xfrm xmlns:a="http://schemas.openxmlformats.org/drawingml/2006/main">
            <a:off x="1390650" y="4267200"/>
            <a:ext cx="428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747C"/>
                </a:solidFill>
                <a:latin typeface="Arial"/>
                <a:ea typeface="Arial"/>
                <a:cs typeface="Arial"/>
              </a:defRPr>
            </a:pPr>
            <a:r>
              <a:rPr sz="1725" b="0">
                <a:solidFill>
                  <a:srgbClr val="18747C"/>
                </a:solidFill>
                <a:latin typeface="Arial"/>
                <a:ea typeface="Arial"/>
                <a:cs typeface="Arial"/>
              </a:rPr>
              <a:t>H</a:t>
            </a:r>
          </a:p>
        </p:txBody>
      </p:sp>
      <p:sp>
        <p:nvSpPr>
          <p:cNvPr id="29" name="">
            <a:extLst xmlns:a="http://schemas.openxmlformats.org/drawingml/2006/main">
              <a:ext uri="{FF2B5EF4-FFF2-40B4-BE49-F238E27FC236}">
                <a16:creationId xmlns:a16="http://schemas.microsoft.com/office/drawing/2014/main" id="{1387D9A4-4C29-4C0B-9B5D-D18421A638F1}"/>
              </a:ext>
            </a:extLst>
          </p:cNvPr>
          <p:cNvSpPr>
            <a:spLocks xmlns:a="http://schemas.openxmlformats.org/drawingml/2006/main" noGrp="1"/>
          </p:cNvSpPr>
          <p:nvPr/>
        </p:nvSpPr>
        <p:spPr>
          <a:xfrm xmlns:a="http://schemas.openxmlformats.org/drawingml/2006/main">
            <a:off x="2162175" y="4267200"/>
            <a:ext cx="104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8747C"/>
                </a:solidFill>
                <a:latin typeface="Arial"/>
                <a:ea typeface="Arial"/>
                <a:cs typeface="Arial"/>
              </a:defRPr>
            </a:pPr>
            <a:r>
              <a:rPr sz="1725" b="0">
                <a:solidFill>
                  <a:srgbClr val="18747C"/>
                </a:solidFill>
                <a:latin typeface="Arial"/>
                <a:ea typeface="Arial"/>
                <a:cs typeface="Arial"/>
              </a:rPr>
              <a:t>P(2θ3)</a:t>
            </a:r>
          </a:p>
        </p:txBody>
      </p:sp>
      <p:sp>
        <p:nvSpPr>
          <p:cNvPr id="30" name="">
            <a:extLst xmlns:a="http://schemas.openxmlformats.org/drawingml/2006/main">
              <a:ext uri="{FF2B5EF4-FFF2-40B4-BE49-F238E27FC236}">
                <a16:creationId xmlns:a16="http://schemas.microsoft.com/office/drawing/2014/main" id="{D0AFCCE9-6B57-4AB5-9AE0-785F105D9667}"/>
              </a:ext>
            </a:extLst>
          </p:cNvPr>
          <p:cNvSpPr>
            <a:spLocks xmlns:a="http://schemas.openxmlformats.org/drawingml/2006/main" noGrp="1"/>
          </p:cNvSpPr>
          <p:nvPr/>
        </p:nvSpPr>
        <p:spPr>
          <a:xfrm xmlns:a="http://schemas.openxmlformats.org/drawingml/2006/main">
            <a:off x="723900" y="4991100"/>
            <a:ext cx="566737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Four-qubit linear ZZ map · schematic gate layout</a:t>
            </a:r>
          </a:p>
        </p:txBody>
      </p:sp>
      <p:sp>
        <p:nvSpPr>
          <p:cNvPr id="31" name="">
            <a:extLst xmlns:a="http://schemas.openxmlformats.org/drawingml/2006/main">
              <a:ext uri="{FF2B5EF4-FFF2-40B4-BE49-F238E27FC236}">
                <a16:creationId xmlns:a16="http://schemas.microsoft.com/office/drawing/2014/main" id="{5D41EED1-1C2E-42B1-90CC-A3AF0D6F2A85}"/>
              </a:ext>
            </a:extLst>
          </p:cNvPr>
          <p:cNvSpPr>
            <a:spLocks xmlns:a="http://schemas.openxmlformats.org/drawingml/2006/main" noGrp="1"/>
          </p:cNvSpPr>
          <p:nvPr/>
        </p:nvSpPr>
        <p:spPr>
          <a:xfrm xmlns:a="http://schemas.openxmlformats.org/drawingml/2006/main">
            <a:off x="6953250" y="2238375"/>
            <a:ext cx="452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77A"/>
                </a:solidFill>
                <a:latin typeface="Arial"/>
                <a:ea typeface="Arial"/>
                <a:cs typeface="Arial"/>
              </a:defRPr>
            </a:pPr>
            <a:r>
              <a:rPr sz="1425" b="0">
                <a:solidFill>
                  <a:srgbClr val="66777A"/>
                </a:solidFill>
                <a:latin typeface="Arial"/>
                <a:ea typeface="Arial"/>
                <a:cs typeface="Arial"/>
              </a:rPr>
              <a:t>Bound the standardized input</a:t>
            </a:r>
          </a:p>
        </p:txBody>
      </p:sp>
      <p:sp>
        <p:nvSpPr>
          <p:cNvPr id="32" name="">
            <a:extLst xmlns:a="http://schemas.openxmlformats.org/drawingml/2006/main">
              <a:ext uri="{FF2B5EF4-FFF2-40B4-BE49-F238E27FC236}">
                <a16:creationId xmlns:a16="http://schemas.microsoft.com/office/drawing/2014/main" id="{83083149-3485-44CA-B70D-76F8CF7A80A6}"/>
              </a:ext>
            </a:extLst>
          </p:cNvPr>
          <p:cNvSpPr>
            <a:spLocks xmlns:a="http://schemas.openxmlformats.org/drawingml/2006/main" noGrp="1"/>
          </p:cNvSpPr>
          <p:nvPr/>
        </p:nvSpPr>
        <p:spPr>
          <a:xfrm xmlns:a="http://schemas.openxmlformats.org/drawingml/2006/main">
            <a:off x="6953250" y="2609850"/>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3A"/>
                </a:solidFill>
                <a:latin typeface="Arial"/>
                <a:ea typeface="Arial"/>
                <a:cs typeface="Arial"/>
              </a:defRPr>
            </a:pPr>
            <a:r>
              <a:rPr sz="1950" b="0">
                <a:solidFill>
                  <a:srgbClr val="17343A"/>
                </a:solidFill>
                <a:latin typeface="Arial"/>
                <a:ea typeface="Arial"/>
                <a:cs typeface="Arial"/>
              </a:rPr>
              <a:t>θ = a tanh(z / 2)</a:t>
            </a:r>
          </a:p>
        </p:txBody>
      </p:sp>
      <p:sp>
        <p:nvSpPr>
          <p:cNvPr id="33" name="">
            <a:extLst xmlns:a="http://schemas.openxmlformats.org/drawingml/2006/main">
              <a:ext uri="{FF2B5EF4-FFF2-40B4-BE49-F238E27FC236}">
                <a16:creationId xmlns:a16="http://schemas.microsoft.com/office/drawing/2014/main" id="{AC08174B-0626-4FAA-82AB-CB91DD91CE60}"/>
              </a:ext>
            </a:extLst>
          </p:cNvPr>
          <p:cNvSpPr>
            <a:spLocks xmlns:a="http://schemas.openxmlformats.org/drawingml/2006/main" noGrp="1"/>
          </p:cNvSpPr>
          <p:nvPr/>
        </p:nvSpPr>
        <p:spPr>
          <a:xfrm xmlns:a="http://schemas.openxmlformats.org/drawingml/2006/main">
            <a:off x="6953250" y="3286125"/>
            <a:ext cx="452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77A"/>
                </a:solidFill>
                <a:latin typeface="Arial"/>
                <a:ea typeface="Arial"/>
                <a:cs typeface="Arial"/>
              </a:defRPr>
            </a:pPr>
            <a:r>
              <a:rPr sz="1425" b="0">
                <a:solidFill>
                  <a:srgbClr val="66777A"/>
                </a:solidFill>
                <a:latin typeface="Arial"/>
                <a:ea typeface="Arial"/>
                <a:cs typeface="Arial"/>
              </a:rPr>
              <a:t>Compare the encoded states</a:t>
            </a:r>
          </a:p>
        </p:txBody>
      </p:sp>
      <p:sp>
        <p:nvSpPr>
          <p:cNvPr id="34" name="">
            <a:extLst xmlns:a="http://schemas.openxmlformats.org/drawingml/2006/main">
              <a:ext uri="{FF2B5EF4-FFF2-40B4-BE49-F238E27FC236}">
                <a16:creationId xmlns:a16="http://schemas.microsoft.com/office/drawing/2014/main" id="{041A3C43-39F9-49F5-9D82-8E8D99819609}"/>
              </a:ext>
            </a:extLst>
          </p:cNvPr>
          <p:cNvSpPr>
            <a:spLocks xmlns:a="http://schemas.openxmlformats.org/drawingml/2006/main" noGrp="1"/>
          </p:cNvSpPr>
          <p:nvPr/>
        </p:nvSpPr>
        <p:spPr>
          <a:xfrm xmlns:a="http://schemas.openxmlformats.org/drawingml/2006/main">
            <a:off x="6953250" y="3657600"/>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3A"/>
                </a:solidFill>
                <a:latin typeface="Arial"/>
                <a:ea typeface="Arial"/>
                <a:cs typeface="Arial"/>
              </a:defRPr>
            </a:pPr>
            <a:r>
              <a:rPr sz="1950" b="0">
                <a:solidFill>
                  <a:srgbClr val="17343A"/>
                </a:solidFill>
                <a:latin typeface="Arial"/>
                <a:ea typeface="Arial"/>
                <a:cs typeface="Arial"/>
              </a:rPr>
              <a:t>k(x,y) = |〈φ(x) | φ(y)〉|²</a:t>
            </a:r>
          </a:p>
        </p:txBody>
      </p:sp>
      <p:sp>
        <p:nvSpPr>
          <p:cNvPr id="35" name="">
            <a:extLst xmlns:a="http://schemas.openxmlformats.org/drawingml/2006/main">
              <a:ext uri="{FF2B5EF4-FFF2-40B4-BE49-F238E27FC236}">
                <a16:creationId xmlns:a16="http://schemas.microsoft.com/office/drawing/2014/main" id="{87AECDFF-CB3F-4D5D-9067-AD72EB1FAB3C}"/>
              </a:ext>
            </a:extLst>
          </p:cNvPr>
          <p:cNvSpPr>
            <a:spLocks xmlns:a="http://schemas.openxmlformats.org/drawingml/2006/main" noGrp="1"/>
          </p:cNvSpPr>
          <p:nvPr/>
        </p:nvSpPr>
        <p:spPr>
          <a:xfrm xmlns:a="http://schemas.openxmlformats.org/drawingml/2006/main">
            <a:off x="6953250" y="4333875"/>
            <a:ext cx="4524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6777A"/>
                </a:solidFill>
                <a:latin typeface="Arial"/>
                <a:ea typeface="Arial"/>
                <a:cs typeface="Arial"/>
              </a:defRPr>
            </a:pPr>
            <a:r>
              <a:rPr sz="1425" b="0">
                <a:solidFill>
                  <a:srgbClr val="66777A"/>
                </a:solidFill>
                <a:latin typeface="Arial"/>
                <a:ea typeface="Arial"/>
                <a:cs typeface="Arial"/>
              </a:rPr>
              <a:t>Classical prediction</a:t>
            </a:r>
          </a:p>
        </p:txBody>
      </p:sp>
      <p:sp>
        <p:nvSpPr>
          <p:cNvPr id="36" name="">
            <a:extLst xmlns:a="http://schemas.openxmlformats.org/drawingml/2006/main">
              <a:ext uri="{FF2B5EF4-FFF2-40B4-BE49-F238E27FC236}">
                <a16:creationId xmlns:a16="http://schemas.microsoft.com/office/drawing/2014/main" id="{A045F428-E5D9-45C9-8854-F4803A507293}"/>
              </a:ext>
            </a:extLst>
          </p:cNvPr>
          <p:cNvSpPr>
            <a:spLocks xmlns:a="http://schemas.openxmlformats.org/drawingml/2006/main" noGrp="1"/>
          </p:cNvSpPr>
          <p:nvPr/>
        </p:nvSpPr>
        <p:spPr>
          <a:xfrm xmlns:a="http://schemas.openxmlformats.org/drawingml/2006/main">
            <a:off x="6953250" y="4705350"/>
            <a:ext cx="45243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7343A"/>
                </a:solidFill>
                <a:latin typeface="Arial"/>
                <a:ea typeface="Arial"/>
                <a:cs typeface="Arial"/>
              </a:defRPr>
            </a:pPr>
            <a:r>
              <a:rPr sz="1950" b="0">
                <a:solidFill>
                  <a:srgbClr val="17343A"/>
                </a:solidFill>
                <a:latin typeface="Arial"/>
                <a:ea typeface="Arial"/>
                <a:cs typeface="Arial"/>
              </a:rPr>
              <a:t>Similarity matrix → SVR</a:t>
            </a:r>
          </a:p>
        </p:txBody>
      </p:sp>
      <p:sp>
        <p:nvSpPr>
          <p:cNvPr id="37" name="">
            <a:extLst xmlns:a="http://schemas.openxmlformats.org/drawingml/2006/main">
              <a:ext uri="{FF2B5EF4-FFF2-40B4-BE49-F238E27FC236}">
                <a16:creationId xmlns:a16="http://schemas.microsoft.com/office/drawing/2014/main" id="{182B42D2-2BF0-4E59-9A0F-1A514224ACA1}"/>
              </a:ext>
            </a:extLst>
          </p:cNvPr>
          <p:cNvSpPr>
            <a:spLocks xmlns:a="http://schemas.openxmlformats.org/drawingml/2006/main" noGrp="1"/>
          </p:cNvSpPr>
          <p:nvPr/>
        </p:nvSpPr>
        <p:spPr>
          <a:xfrm xmlns:a="http://schemas.openxmlformats.org/drawingml/2006/main">
            <a:off x="723900" y="600075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Actual FidelityQuantumKernel + QSVR · exact simulation · training-only preprocessing</a:t>
            </a:r>
          </a:p>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Entangling features does not guarantee predictive skill.</a:t>
            </a:r>
          </a:p>
        </p:txBody>
      </p:sp>
    </p:spTree>
    <p:extLst>
      <p:ext uri="{BB962C8B-B14F-4D97-AF65-F5344CB8AC3E}">
        <p14:creationId xmlns:p14="http://schemas.microsoft.com/office/powerpoint/2010/main" val="443507310"/>
      </p:ext>
    </p:extLst>
  </p:cSld>
</p:sld>
</file>

<file path=ppt/slides/slide9.xml><?xml version="1.0" encoding="utf-8"?>
<p:sld xmlns:p="http://schemas.openxmlformats.org/presentationml/2006/main">
  <p:cSld>
    <p:bg>
      <p:bgPr>
        <a:solidFill xmlns:a="http://schemas.openxmlformats.org/drawingml/2006/main">
          <a:srgbClr val="F7F6F2"/>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0B90AB30-030B-407C-B685-DE3173839010}"/>
              </a:ext>
            </a:extLst>
          </p:cNvPr>
          <p:cNvSpPr>
            <a:spLocks xmlns:a="http://schemas.openxmlformats.org/drawingml/2006/main" noGrp="1"/>
          </p:cNvSpPr>
          <p:nvPr/>
        </p:nvSpPr>
        <p:spPr>
          <a:xfrm xmlns:a="http://schemas.openxmlformats.org/drawingml/2006/main">
            <a:off x="723900" y="590550"/>
            <a:ext cx="107442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17343A"/>
                </a:solidFill>
                <a:latin typeface="Arial"/>
                <a:ea typeface="Arial"/>
                <a:cs typeface="Arial"/>
              </a:defRPr>
            </a:pPr>
            <a:r>
              <a:rPr sz="3450" b="0">
                <a:solidFill>
                  <a:srgbClr val="17343A"/>
                </a:solidFill>
                <a:latin typeface="Arial"/>
                <a:ea typeface="Arial"/>
                <a:cs typeface="Arial"/>
              </a:rPr>
              <a:t>Small data. Explicit compute.</a:t>
            </a:r>
          </a:p>
        </p:txBody>
      </p:sp>
      <p:sp>
        <p:nvSpPr>
          <p:cNvPr id="2" name="">
            <a:extLst xmlns:a="http://schemas.openxmlformats.org/drawingml/2006/main">
              <a:ext uri="{FF2B5EF4-FFF2-40B4-BE49-F238E27FC236}">
                <a16:creationId xmlns:a16="http://schemas.microsoft.com/office/drawing/2014/main" id="{F8A2B690-975E-44CF-931D-FEAAB6393F4B}"/>
              </a:ext>
            </a:extLst>
          </p:cNvPr>
          <p:cNvSpPr>
            <a:spLocks xmlns:a="http://schemas.openxmlformats.org/drawingml/2006/main" noGrp="1"/>
          </p:cNvSpPr>
          <p:nvPr/>
        </p:nvSpPr>
        <p:spPr>
          <a:xfrm xmlns:a="http://schemas.openxmlformats.org/drawingml/2006/main">
            <a:off x="723900" y="2038350"/>
            <a:ext cx="5619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Final fit / saved-year evaluation · seconds</a:t>
            </a:r>
          </a:p>
        </p:txBody>
      </p:sp>
      <p:sp>
        <p:nvSpPr>
          <p:cNvPr id="3" name="">
            <a:extLst xmlns:a="http://schemas.openxmlformats.org/drawingml/2006/main">
              <a:ext uri="{FF2B5EF4-FFF2-40B4-BE49-F238E27FC236}">
                <a16:creationId xmlns:a16="http://schemas.microsoft.com/office/drawing/2014/main" id="{D903A02C-B19C-440B-91C9-C5AA228B94E3}"/>
              </a:ext>
            </a:extLst>
          </p:cNvPr>
          <p:cNvSpPr>
            <a:spLocks xmlns:a="http://schemas.openxmlformats.org/drawingml/2006/main" noGrp="1"/>
          </p:cNvSpPr>
          <p:nvPr/>
        </p:nvSpPr>
        <p:spPr>
          <a:xfrm xmlns:a="http://schemas.openxmlformats.org/drawingml/2006/main">
            <a:off x="723900" y="2495550"/>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17343A"/>
                </a:solidFill>
                <a:latin typeface="Arial"/>
                <a:ea typeface="Arial"/>
                <a:cs typeface="Arial"/>
              </a:defRPr>
            </a:pPr>
            <a:r>
              <a:rPr sz="3900" b="0">
                <a:solidFill>
                  <a:srgbClr val="17343A"/>
                </a:solidFill>
                <a:latin typeface="Arial"/>
                <a:ea typeface="Arial"/>
                <a:cs typeface="Arial"/>
              </a:rPr>
              <a:t>93.75</a:t>
            </a:r>
          </a:p>
        </p:txBody>
      </p:sp>
      <p:sp>
        <p:nvSpPr>
          <p:cNvPr id="4" name="">
            <a:extLst xmlns:a="http://schemas.openxmlformats.org/drawingml/2006/main">
              <a:ext uri="{FF2B5EF4-FFF2-40B4-BE49-F238E27FC236}">
                <a16:creationId xmlns:a16="http://schemas.microsoft.com/office/drawing/2014/main" id="{A2BBB65E-7286-4EFE-BEF2-148A600A3A12}"/>
              </a:ext>
            </a:extLst>
          </p:cNvPr>
          <p:cNvSpPr>
            <a:spLocks xmlns:a="http://schemas.openxmlformats.org/drawingml/2006/main" noGrp="1"/>
          </p:cNvSpPr>
          <p:nvPr/>
        </p:nvSpPr>
        <p:spPr>
          <a:xfrm xmlns:a="http://schemas.openxmlformats.org/drawingml/2006/main">
            <a:off x="3086100" y="274320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6777A"/>
                </a:solidFill>
                <a:latin typeface="Arial"/>
                <a:ea typeface="Arial"/>
                <a:cs typeface="Arial"/>
              </a:defRPr>
            </a:pPr>
            <a:r>
              <a:rPr sz="1800" b="0">
                <a:solidFill>
                  <a:srgbClr val="66777A"/>
                </a:solidFill>
                <a:latin typeface="Arial"/>
                <a:ea typeface="Arial"/>
                <a:cs typeface="Arial"/>
              </a:rPr>
              <a:t>Training</a:t>
            </a:r>
          </a:p>
        </p:txBody>
      </p:sp>
      <p:sp>
        <p:nvSpPr>
          <p:cNvPr id="5" name="">
            <a:extLst xmlns:a="http://schemas.openxmlformats.org/drawingml/2006/main">
              <a:ext uri="{FF2B5EF4-FFF2-40B4-BE49-F238E27FC236}">
                <a16:creationId xmlns:a16="http://schemas.microsoft.com/office/drawing/2014/main" id="{889F53A1-7B3C-42DC-B5D0-251F3DF0B821}"/>
              </a:ext>
            </a:extLst>
          </p:cNvPr>
          <p:cNvSpPr>
            <a:spLocks xmlns:a="http://schemas.openxmlformats.org/drawingml/2006/main" noGrp="1"/>
          </p:cNvSpPr>
          <p:nvPr/>
        </p:nvSpPr>
        <p:spPr>
          <a:xfrm xmlns:a="http://schemas.openxmlformats.org/drawingml/2006/main">
            <a:off x="723900" y="3238500"/>
            <a:ext cx="5048250" cy="47625"/>
          </a:xfrm>
          <a:prstGeom xmlns:a="http://schemas.openxmlformats.org/drawingml/2006/main" prst="rect">
            <a:avLst/>
          </a:prstGeom>
          <a:solidFill xmlns:a="http://schemas.openxmlformats.org/drawingml/2006/main">
            <a:srgbClr val="18747C"/>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CE290E3B-E367-476B-9638-BDC267C87256}"/>
              </a:ext>
            </a:extLst>
          </p:cNvPr>
          <p:cNvSpPr>
            <a:spLocks xmlns:a="http://schemas.openxmlformats.org/drawingml/2006/main" noGrp="1"/>
          </p:cNvSpPr>
          <p:nvPr/>
        </p:nvSpPr>
        <p:spPr>
          <a:xfrm xmlns:a="http://schemas.openxmlformats.org/drawingml/2006/main">
            <a:off x="723900" y="3638550"/>
            <a:ext cx="2190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0">
                <a:solidFill>
                  <a:srgbClr val="17343A"/>
                </a:solidFill>
                <a:latin typeface="Arial"/>
                <a:ea typeface="Arial"/>
                <a:cs typeface="Arial"/>
              </a:defRPr>
            </a:pPr>
            <a:r>
              <a:rPr sz="3900" b="0">
                <a:solidFill>
                  <a:srgbClr val="17343A"/>
                </a:solidFill>
                <a:latin typeface="Arial"/>
                <a:ea typeface="Arial"/>
                <a:cs typeface="Arial"/>
              </a:rPr>
              <a:t>9.63</a:t>
            </a:r>
          </a:p>
        </p:txBody>
      </p:sp>
      <p:sp>
        <p:nvSpPr>
          <p:cNvPr id="7" name="">
            <a:extLst xmlns:a="http://schemas.openxmlformats.org/drawingml/2006/main">
              <a:ext uri="{FF2B5EF4-FFF2-40B4-BE49-F238E27FC236}">
                <a16:creationId xmlns:a16="http://schemas.microsoft.com/office/drawing/2014/main" id="{A638ED6A-8C92-4BEA-8772-3533DB2AD517}"/>
              </a:ext>
            </a:extLst>
          </p:cNvPr>
          <p:cNvSpPr>
            <a:spLocks xmlns:a="http://schemas.openxmlformats.org/drawingml/2006/main" noGrp="1"/>
          </p:cNvSpPr>
          <p:nvPr/>
        </p:nvSpPr>
        <p:spPr>
          <a:xfrm xmlns:a="http://schemas.openxmlformats.org/drawingml/2006/main">
            <a:off x="3086100" y="3886200"/>
            <a:ext cx="2762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66777A"/>
                </a:solidFill>
                <a:latin typeface="Arial"/>
                <a:ea typeface="Arial"/>
                <a:cs typeface="Arial"/>
              </a:defRPr>
            </a:pPr>
            <a:r>
              <a:rPr sz="1800" b="0">
                <a:solidFill>
                  <a:srgbClr val="66777A"/>
                </a:solidFill>
                <a:latin typeface="Arial"/>
                <a:ea typeface="Arial"/>
                <a:cs typeface="Arial"/>
              </a:rPr>
              <a:t>Evaluation</a:t>
            </a:r>
          </a:p>
        </p:txBody>
      </p:sp>
      <p:sp>
        <p:nvSpPr>
          <p:cNvPr id="8" name="">
            <a:extLst xmlns:a="http://schemas.openxmlformats.org/drawingml/2006/main">
              <a:ext uri="{FF2B5EF4-FFF2-40B4-BE49-F238E27FC236}">
                <a16:creationId xmlns:a16="http://schemas.microsoft.com/office/drawing/2014/main" id="{BCC11D51-8A7D-4B29-8E97-164066C2FA85}"/>
              </a:ext>
            </a:extLst>
          </p:cNvPr>
          <p:cNvSpPr>
            <a:spLocks xmlns:a="http://schemas.openxmlformats.org/drawingml/2006/main" noGrp="1"/>
          </p:cNvSpPr>
          <p:nvPr/>
        </p:nvSpPr>
        <p:spPr>
          <a:xfrm xmlns:a="http://schemas.openxmlformats.org/drawingml/2006/main">
            <a:off x="723900" y="4381500"/>
            <a:ext cx="518492" cy="47625"/>
          </a:xfrm>
          <a:prstGeom xmlns:a="http://schemas.openxmlformats.org/drawingml/2006/main" prst="rect">
            <a:avLst/>
          </a:prstGeom>
          <a:solidFill xmlns:a="http://schemas.openxmlformats.org/drawingml/2006/main">
            <a:srgbClr val="18747C"/>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93579313-5944-4685-A5EB-F77BCDEFC72C}"/>
              </a:ext>
            </a:extLst>
          </p:cNvPr>
          <p:cNvSpPr>
            <a:spLocks xmlns:a="http://schemas.openxmlformats.org/drawingml/2006/main" noGrp="1"/>
          </p:cNvSpPr>
          <p:nvPr/>
        </p:nvSpPr>
        <p:spPr>
          <a:xfrm xmlns:a="http://schemas.openxmlformats.org/drawingml/2006/main">
            <a:off x="723900" y="4962525"/>
            <a:ext cx="2857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425" b="0">
                <a:solidFill>
                  <a:srgbClr val="18747C"/>
                </a:solidFill>
                <a:latin typeface="Arial"/>
                <a:ea typeface="Arial"/>
                <a:cs typeface="Arial"/>
              </a:defRPr>
            </a:pPr>
            <a:r>
              <a:rPr sz="4425" b="0">
                <a:solidFill>
                  <a:srgbClr val="18747C"/>
                </a:solidFill>
                <a:latin typeface="Arial"/>
                <a:ea typeface="Arial"/>
                <a:cs typeface="Arial"/>
              </a:rPr>
              <a:t>267 kB</a:t>
            </a:r>
          </a:p>
        </p:txBody>
      </p:sp>
      <p:sp>
        <p:nvSpPr>
          <p:cNvPr id="10" name="">
            <a:extLst xmlns:a="http://schemas.openxmlformats.org/drawingml/2006/main">
              <a:ext uri="{FF2B5EF4-FFF2-40B4-BE49-F238E27FC236}">
                <a16:creationId xmlns:a16="http://schemas.microsoft.com/office/drawing/2014/main" id="{E4FF1ED5-DB7A-415A-A33B-D78E857093D4}"/>
              </a:ext>
            </a:extLst>
          </p:cNvPr>
          <p:cNvSpPr>
            <a:spLocks xmlns:a="http://schemas.openxmlformats.org/drawingml/2006/main" noGrp="1"/>
          </p:cNvSpPr>
          <p:nvPr/>
        </p:nvSpPr>
        <p:spPr>
          <a:xfrm xmlns:a="http://schemas.openxmlformats.org/drawingml/2006/main">
            <a:off x="3581400" y="5105400"/>
            <a:ext cx="2571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66777A"/>
                </a:solidFill>
                <a:latin typeface="Arial"/>
                <a:ea typeface="Arial"/>
                <a:cs typeface="Arial"/>
              </a:defRPr>
            </a:pPr>
            <a:r>
              <a:rPr sz="1650" b="0">
                <a:solidFill>
                  <a:srgbClr val="66777A"/>
                </a:solidFill>
                <a:latin typeface="Arial"/>
                <a:ea typeface="Arial"/>
                <a:cs typeface="Arial"/>
              </a:rPr>
              <a:t>Frozen evidence package</a:t>
            </a:r>
          </a:p>
          <a:p xmlns:a="http://schemas.openxmlformats.org/drawingml/2006/main">
            <a:pPr>
              <a:defRPr sz="1650" b="0">
                <a:solidFill>
                  <a:srgbClr val="66777A"/>
                </a:solidFill>
                <a:latin typeface="Arial"/>
                <a:ea typeface="Arial"/>
                <a:cs typeface="Arial"/>
              </a:defRPr>
            </a:pPr>
            <a:r>
              <a:rPr sz="1650" b="0">
                <a:solidFill>
                  <a:srgbClr val="66777A"/>
                </a:solidFill>
                <a:latin typeface="Arial"/>
                <a:ea typeface="Arial"/>
                <a:cs typeface="Arial"/>
              </a:rPr>
              <a:t>No-fit public replay</a:t>
            </a:r>
          </a:p>
        </p:txBody>
      </p:sp>
      <p:graphicFrame>
        <p:nvGraphicFramePr>
          <p:cNvPr id="23" name=""/>
          <p:cNvGraphicFramePr/>
          <p:nvPr/>
        </p:nvGraphicFramePr>
        <p:xfrm>
          <a:off xmlns:a="http://schemas.openxmlformats.org/drawingml/2006/main" x="6810375" y="2162175"/>
          <a:ext xmlns:a="http://schemas.openxmlformats.org/drawingml/2006/main" cx="4667250" cy="3305175"/>
        </p:xfrm>
        <a:graphic xmlns:a="http://schemas.openxmlformats.org/drawingml/2006/main">
          <a:graphicData uri="http://schemas.openxmlformats.org/drawingml/2006/table">
            <a:tbl>
              <a:tblPr/>
              <a:tblGrid>
                <a:gridCol w="2333625"/>
                <a:gridCol w="2333625"/>
              </a:tblGrid>
              <a:tr h="826294">
                <a:tc>
                  <a:txBody>
                    <a:bodyPr/>
                    <a:lstStyle/>
                    <a:p>
                      <a:r>
                        <a:rPr sz="1575">
                          <a:solidFill>
                            <a:srgbClr val="17343A"/>
                          </a:solidFill>
                          <a:latin typeface="Arial"/>
                          <a:ea typeface="Arial"/>
                          <a:cs typeface="Arial"/>
                        </a:rPr>
                        <a:t>Fidelity pairs</a:t>
                      </a:r>
                    </a:p>
                  </a:txBody>
                  <a:tcPr marL="76200" marR="76200" marT="114300" marB="114300">
                    <a:solidFill>
                      <a:srgbClr val="F7F6F2"/>
                    </a:solidFill>
                  </a:tcPr>
                </a:tc>
                <a:tc>
                  <a:txBody>
                    <a:bodyPr/>
                    <a:lstStyle/>
                    <a:p>
                      <a:r>
                        <a:rPr sz="1575">
                          <a:solidFill>
                            <a:srgbClr val="17343A"/>
                          </a:solidFill>
                          <a:latin typeface="Arial"/>
                          <a:ea typeface="Arial"/>
                          <a:cs typeface="Arial"/>
                        </a:rPr>
                        <a:t>12,092 train</a:t>
                      </a:r>
                    </a:p>
                    <a:p>
                      <a:r>
                        <a:rPr sz="1575">
                          <a:solidFill>
                            <a:srgbClr val="17343A"/>
                          </a:solidFill>
                          <a:latin typeface="Arial"/>
                          <a:ea typeface="Arial"/>
                          <a:cs typeface="Arial"/>
                        </a:rPr>
                        <a:t>2,232 evaluation</a:t>
                      </a:r>
                    </a:p>
                  </a:txBody>
                  <a:tcPr marL="76200" marR="76200" marT="114300" marB="114300">
                    <a:solidFill>
                      <a:srgbClr val="F7F6F2"/>
                    </a:solidFill>
                  </a:tcPr>
                </a:tc>
              </a:tr>
              <a:tr h="826294">
                <a:tc>
                  <a:txBody>
                    <a:bodyPr/>
                    <a:lstStyle/>
                    <a:p>
                      <a:r>
                        <a:rPr sz="1575">
                          <a:solidFill>
                            <a:srgbClr val="17343A"/>
                          </a:solidFill>
                          <a:latin typeface="Arial"/>
                          <a:ea typeface="Arial"/>
                          <a:cs typeface="Arial"/>
                        </a:rPr>
                        <a:t>Scale diagnostic</a:t>
                      </a:r>
                    </a:p>
                  </a:txBody>
                  <a:tcPr marL="76200" marR="76200" marT="114300" marB="114300">
                    <a:solidFill>
                      <a:srgbClr val="F7F6F2"/>
                    </a:solidFill>
                  </a:tcPr>
                </a:tc>
                <a:tc>
                  <a:txBody>
                    <a:bodyPr/>
                    <a:lstStyle/>
                    <a:p>
                      <a:r>
                        <a:rPr sz="1575">
                          <a:solidFill>
                            <a:srgbClr val="17343A"/>
                          </a:solidFill>
                          <a:latin typeface="Arial"/>
                          <a:ea typeface="Arial"/>
                          <a:cs typeface="Arial"/>
                        </a:rPr>
                        <a:t>4,650 pairs</a:t>
                      </a:r>
                    </a:p>
                    <a:p>
                      <a:r>
                        <a:rPr sz="1575">
                          <a:solidFill>
                            <a:srgbClr val="17343A"/>
                          </a:solidFill>
                          <a:latin typeface="Arial"/>
                          <a:ea typeface="Arial"/>
                          <a:cs typeface="Arial"/>
                        </a:rPr>
                        <a:t>48.89 s</a:t>
                      </a:r>
                    </a:p>
                  </a:txBody>
                  <a:tcPr marL="76200" marR="76200" marT="114300" marB="114300">
                    <a:solidFill>
                      <a:srgbClr val="F7F6F2"/>
                    </a:solidFill>
                  </a:tcPr>
                </a:tc>
              </a:tr>
              <a:tr h="826294">
                <a:tc>
                  <a:txBody>
                    <a:bodyPr/>
                    <a:lstStyle/>
                    <a:p>
                      <a:r>
                        <a:rPr sz="1575">
                          <a:solidFill>
                            <a:srgbClr val="17343A"/>
                          </a:solidFill>
                          <a:latin typeface="Arial"/>
                          <a:ea typeface="Arial"/>
                          <a:cs typeface="Arial"/>
                        </a:rPr>
                        <a:t>Evaluation refits</a:t>
                      </a:r>
                    </a:p>
                  </a:txBody>
                  <a:tcPr marL="76200" marR="76200" marT="114300" marB="114300">
                    <a:solidFill>
                      <a:srgbClr val="F7F6F2"/>
                    </a:solidFill>
                  </a:tcPr>
                </a:tc>
                <a:tc>
                  <a:txBody>
                    <a:bodyPr/>
                    <a:lstStyle/>
                    <a:p>
                      <a:r>
                        <a:rPr sz="1575">
                          <a:solidFill>
                            <a:srgbClr val="17343A"/>
                          </a:solidFill>
                          <a:latin typeface="Arial"/>
                          <a:ea typeface="Arial"/>
                          <a:cs typeface="Arial"/>
                        </a:rPr>
                        <a:t>0</a:t>
                      </a:r>
                    </a:p>
                  </a:txBody>
                  <a:tcPr marL="76200" marR="76200" marT="114300" marB="114300">
                    <a:solidFill>
                      <a:srgbClr val="F7F6F2"/>
                    </a:solidFill>
                  </a:tcPr>
                </a:tc>
              </a:tr>
              <a:tr h="826294">
                <a:tc>
                  <a:txBody>
                    <a:bodyPr/>
                    <a:lstStyle/>
                    <a:p>
                      <a:r>
                        <a:rPr sz="1575">
                          <a:solidFill>
                            <a:srgbClr val="17343A"/>
                          </a:solidFill>
                          <a:latin typeface="Arial"/>
                          <a:ea typeface="Arial"/>
                          <a:cs typeface="Arial"/>
                        </a:rPr>
                        <a:t>Hardware jobs</a:t>
                      </a:r>
                    </a:p>
                  </a:txBody>
                  <a:tcPr marL="76200" marR="76200" marT="114300" marB="114300">
                    <a:solidFill>
                      <a:srgbClr val="F7F6F2"/>
                    </a:solidFill>
                  </a:tcPr>
                </a:tc>
                <a:tc>
                  <a:txBody>
                    <a:bodyPr/>
                    <a:lstStyle/>
                    <a:p>
                      <a:r>
                        <a:rPr sz="1575">
                          <a:solidFill>
                            <a:srgbClr val="17343A"/>
                          </a:solidFill>
                          <a:latin typeface="Arial"/>
                          <a:ea typeface="Arial"/>
                          <a:cs typeface="Arial"/>
                        </a:rPr>
                        <a:t>0</a:t>
                      </a:r>
                    </a:p>
                  </a:txBody>
                  <a:tcPr marL="76200" marR="76200" marT="114300" marB="114300">
                    <a:solidFill>
                      <a:srgbClr val="F7F6F2"/>
                    </a:solidFill>
                  </a:tcPr>
                </a:tc>
              </a:tr>
            </a:tbl>
          </a:graphicData>
        </a:graphic>
      </p:graphicFrame>
      <p:sp>
        <p:nvSpPr>
          <p:cNvPr id="12" name="">
            <a:extLst xmlns:a="http://schemas.openxmlformats.org/drawingml/2006/main">
              <a:ext uri="{FF2B5EF4-FFF2-40B4-BE49-F238E27FC236}">
                <a16:creationId xmlns:a16="http://schemas.microsoft.com/office/drawing/2014/main" id="{B0966BB1-39D4-4212-A214-C25924C46E9A}"/>
              </a:ext>
            </a:extLst>
          </p:cNvPr>
          <p:cNvSpPr>
            <a:spLocks xmlns:a="http://schemas.openxmlformats.org/drawingml/2006/main" noGrp="1"/>
          </p:cNvSpPr>
          <p:nvPr/>
        </p:nvSpPr>
        <p:spPr>
          <a:xfrm xmlns:a="http://schemas.openxmlformats.org/drawingml/2006/main">
            <a:off x="723900" y="600075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Local analytic circuits, not physical shots. Runtime excludes installation.</a:t>
            </a:r>
          </a:p>
          <a:p xmlns:a="http://schemas.openxmlformats.org/drawingml/2006/main">
            <a:pPr>
              <a:defRPr sz="1500" b="0">
                <a:solidFill>
                  <a:srgbClr val="66777A"/>
                </a:solidFill>
                <a:latin typeface="Arial"/>
                <a:ea typeface="Arial"/>
                <a:cs typeface="Arial"/>
              </a:defRPr>
            </a:pPr>
            <a:r>
              <a:rPr sz="1500" b="0">
                <a:solidFill>
                  <a:srgbClr val="66777A"/>
                </a:solidFill>
                <a:latin typeface="Arial"/>
                <a:ea typeface="Arial"/>
                <a:cs typeface="Arial"/>
              </a:rPr>
              <a:t>Seven main slides · 300-second plan · appendices for questions.</a:t>
            </a:r>
          </a:p>
        </p:txBody>
      </p:sp>
    </p:spTree>
    <p:extLst>
      <p:ext uri="{BB962C8B-B14F-4D97-AF65-F5344CB8AC3E}">
        <p14:creationId xmlns:p14="http://schemas.microsoft.com/office/powerpoint/2010/main" val="18031690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2026-10-06T05:30:25.6180000Z</dcterms:created>
  <dcterms:modified xsi:type="dcterms:W3CDTF">2026-10-06T05:30:25.6180000Z</dcterms:modified>
</coreProperties>
</file>